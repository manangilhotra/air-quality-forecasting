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163737-db54-1342-3c2e-659bb86b2466}">
          <p14:sldIdLst>
            <p14:sldId id="256"/>
            <p14:sldId id="257"/>
          </p14:sldIdLst>
        </p14:section>
        <p14:section name="Literature review" id="{f35349e9-8b35-6152-4fd8-5c05b5c1b6b0}">
          <p14:sldIdLst>
            <p14:sldId id="258"/>
            <p14:sldId id="259"/>
          </p14:sldIdLst>
        </p14:section>
        <p14:section name="Data" id="{fff33156-2ebe-8930-bddc-c9094370e48c}">
          <p14:sldIdLst>
            <p14:sldId id="260"/>
            <p14:sldId id="261"/>
            <p14:sldId id="262"/>
          </p14:sldIdLst>
        </p14:section>
        <p14:section name="Method" id="{ee7a8997-b845-6c46-f3a5-dc1b8ba30013}">
          <p14:sldIdLst>
            <p14:sldId id="263"/>
            <p14:sldId id="264"/>
            <p14:sldId id="265"/>
            <p14:sldId id="266"/>
          </p14:sldIdLst>
        </p14:section>
        <p14:section name="Results" id="{caa9cb60-60c7-ed6f-ea82-9006d31b6637}">
          <p14:sldIdLst>
            <p14:sldId id="267"/>
            <p14:sldId id="268"/>
            <p14:sldId id="269"/>
          </p14:sldIdLst>
        </p14:section>
        <p14:section name="Conclusion" id="{44a9aec3-e856-d25c-91e2-efda0abc5931}">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Mean PM2.5 by hour of day (µg/m³)</a:t>
            </a:r>
          </a:p>
        </c:rich>
      </c:tx>
      <c:layout/>
      <c:overlay val="0"/>
    </c:title>
    <c:autoTitleDeleted val="0"/>
    <c:plotArea>
      <c:layout/>
      <c:lineChart>
        <c:varyColors val="0"/>
        <c:ser>
          <c:idx val="0"/>
          <c:order val="0"/>
          <c:tx>
            <c:strRef>
              <c:f>Sheet1!$B$1</c:f>
              <c:strCache>
                <c:ptCount val="1"/>
                <c:pt idx="0">
                  <c:v>Mean PM2.5</c:v>
                </c:pt>
              </c:strCache>
            </c:strRef>
          </c:tx>
          <c:spPr>
            <a:solidFill>
              <a:srgbClr val="16384A"/>
            </a:solidFill>
            <a:ln w="31750" cap="flat">
              <a:solidFill>
                <a:srgbClr val="16384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16384A"/>
              </a:solidFill>
              <a:ln w="9525" cap="flat">
                <a:solidFill>
                  <a:srgbClr val="16384A"/>
                </a:solidFill>
                <a:prstDash val="solid"/>
                <a:round/>
              </a:ln>
              <a:effectLst/>
            </c:spPr>
          </c:marker>
          <c:cat>
            <c:multiLvlStrRef>
              <c:f>Sheet1!$A$2:$A$25</c:f>
              <c:multiLvlStrCache>
                <c:ptCount val="24"/>
                <c:lvl>
                  <c:pt idx="0">
                    <c:v>0</c:v>
                  </c:pt>
                  <c:pt idx="1">
                    <c:v/>
                  </c:pt>
                  <c:pt idx="2">
                    <c:v/>
                  </c:pt>
                  <c:pt idx="3">
                    <c:v>3</c:v>
                  </c:pt>
                  <c:pt idx="4">
                    <c:v/>
                  </c:pt>
                  <c:pt idx="5">
                    <c:v/>
                  </c:pt>
                  <c:pt idx="6">
                    <c:v>6</c:v>
                  </c:pt>
                  <c:pt idx="7">
                    <c:v/>
                  </c:pt>
                  <c:pt idx="8">
                    <c:v/>
                  </c:pt>
                  <c:pt idx="9">
                    <c:v>9</c:v>
                  </c:pt>
                  <c:pt idx="10">
                    <c:v/>
                  </c:pt>
                  <c:pt idx="11">
                    <c:v/>
                  </c:pt>
                  <c:pt idx="12">
                    <c:v>12</c:v>
                  </c:pt>
                  <c:pt idx="13">
                    <c:v/>
                  </c:pt>
                  <c:pt idx="14">
                    <c:v/>
                  </c:pt>
                  <c:pt idx="15">
                    <c:v>15</c:v>
                  </c:pt>
                  <c:pt idx="16">
                    <c:v/>
                  </c:pt>
                  <c:pt idx="17">
                    <c:v/>
                  </c:pt>
                  <c:pt idx="18">
                    <c:v>18</c:v>
                  </c:pt>
                  <c:pt idx="19">
                    <c:v/>
                  </c:pt>
                  <c:pt idx="20">
                    <c:v/>
                  </c:pt>
                  <c:pt idx="21">
                    <c:v>21</c:v>
                  </c:pt>
                  <c:pt idx="22">
                    <c:v/>
                  </c:pt>
                  <c:pt idx="23">
                    <c:v/>
                  </c:pt>
                </c:lvl>
              </c:multiLvlStrCache>
            </c:multiLvlStrRef>
          </c:cat>
          <c:val>
            <c:numRef>
              <c:f>Sheet1!$B$2:$B$25</c:f>
              <c:numCache>
                <c:formatCode>General</c:formatCode>
                <c:ptCount val="24"/>
                <c:pt idx="0">
                  <c:v>113.4</c:v>
                </c:pt>
                <c:pt idx="1">
                  <c:v>113.7</c:v>
                </c:pt>
                <c:pt idx="2">
                  <c:v>110.3</c:v>
                </c:pt>
                <c:pt idx="3">
                  <c:v>108</c:v>
                </c:pt>
                <c:pt idx="4">
                  <c:v>104.1</c:v>
                </c:pt>
                <c:pt idx="5">
                  <c:v>100</c:v>
                </c:pt>
                <c:pt idx="6">
                  <c:v>96.9</c:v>
                </c:pt>
                <c:pt idx="7">
                  <c:v>96</c:v>
                </c:pt>
                <c:pt idx="8">
                  <c:v>95.9</c:v>
                </c:pt>
                <c:pt idx="9">
                  <c:v>94.7</c:v>
                </c:pt>
                <c:pt idx="10">
                  <c:v>93.4</c:v>
                </c:pt>
                <c:pt idx="11">
                  <c:v>91.7</c:v>
                </c:pt>
                <c:pt idx="12">
                  <c:v>89.4</c:v>
                </c:pt>
                <c:pt idx="13">
                  <c:v>88</c:v>
                </c:pt>
                <c:pt idx="14">
                  <c:v>86.3</c:v>
                </c:pt>
                <c:pt idx="15">
                  <c:v>85.5</c:v>
                </c:pt>
                <c:pt idx="16">
                  <c:v>85.9</c:v>
                </c:pt>
                <c:pt idx="17">
                  <c:v>87.6</c:v>
                </c:pt>
                <c:pt idx="18">
                  <c:v>91.5</c:v>
                </c:pt>
                <c:pt idx="19">
                  <c:v>97.4</c:v>
                </c:pt>
                <c:pt idx="20">
                  <c:v>104.6</c:v>
                </c:pt>
                <c:pt idx="21">
                  <c:v>109.2</c:v>
                </c:pt>
                <c:pt idx="22">
                  <c:v>111</c:v>
                </c:pt>
                <c:pt idx="23">
                  <c:v>111.9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tickLblSkip val="3"/>
      </c:catAx>
      <c:valAx>
        <c:axId val="2094734552"/>
        <c:scaling>
          <c:orientation val="minMax"/>
          <c:max val="120"/>
          <c:min val="8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Mean PM2.5 by month (µg/m³)</a:t>
            </a:r>
          </a:p>
        </c:rich>
      </c:tx>
      <c:layout/>
      <c:overlay val="0"/>
    </c:title>
    <c:autoTitleDeleted val="0"/>
    <c:plotArea>
      <c:layout/>
      <c:barChart>
        <c:barDir val="col"/>
        <c:grouping val="clustered"/>
        <c:varyColors val="0"/>
        <c:ser>
          <c:idx val="0"/>
          <c:order val="0"/>
          <c:tx>
            <c:strRef>
              <c:f>Sheet1!$B$1</c:f>
              <c:strCache>
                <c:ptCount val="1"/>
                <c:pt idx="0">
                  <c:v>Mean PM2.5</c:v>
                </c:pt>
              </c:strCache>
            </c:strRef>
          </c:tx>
          <c:spPr>
            <a:solidFill>
              <a:srgbClr val="3E7C8C"/>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115.1</c:v>
                </c:pt>
                <c:pt idx="1">
                  <c:v>125.7</c:v>
                </c:pt>
                <c:pt idx="2">
                  <c:v>97.8</c:v>
                </c:pt>
                <c:pt idx="3">
                  <c:v>83.7</c:v>
                </c:pt>
                <c:pt idx="4">
                  <c:v>80.1</c:v>
                </c:pt>
                <c:pt idx="5">
                  <c:v>96.5</c:v>
                </c:pt>
                <c:pt idx="6">
                  <c:v>94.3</c:v>
                </c:pt>
                <c:pt idx="7">
                  <c:v>80</c:v>
                </c:pt>
                <c:pt idx="8">
                  <c:v>85.2</c:v>
                </c:pt>
                <c:pt idx="9">
                  <c:v>120.4</c:v>
                </c:pt>
                <c:pt idx="10">
                  <c:v>105.8</c:v>
                </c:pt>
                <c:pt idx="11">
                  <c:v>98.2</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Median PM2.5 by wind direction (µg/m³)</a:t>
            </a:r>
          </a:p>
        </c:rich>
      </c:tx>
      <c:layout/>
      <c:overlay val="0"/>
    </c:title>
    <c:autoTitleDeleted val="0"/>
    <c:plotArea>
      <c:layout/>
      <c:barChart>
        <c:barDir val="col"/>
        <c:grouping val="clustered"/>
        <c:varyColors val="0"/>
        <c:ser>
          <c:idx val="0"/>
          <c:order val="0"/>
          <c:tx>
            <c:strRef>
              <c:f>Sheet1!$B$1</c:f>
              <c:strCache>
                <c:ptCount val="1"/>
                <c:pt idx="0">
                  <c:v>Median PM2.5</c:v>
                </c:pt>
              </c:strCache>
            </c:strRef>
          </c:tx>
          <c:spPr>
            <a:solidFill>
              <a:srgbClr val="3E7C8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Northwest</c:v>
                  </c:pt>
                  <c:pt idx="1">
                    <c:v>Northeast</c:v>
                  </c:pt>
                  <c:pt idx="2">
                    <c:v>Southeast</c:v>
                  </c:pt>
                  <c:pt idx="3">
                    <c:v>Calm</c:v>
                  </c:pt>
                </c:lvl>
              </c:multiLvlStrCache>
            </c:multiLvlStrRef>
          </c:cat>
          <c:val>
            <c:numRef>
              <c:f>Sheet1!$B$2:$B$5</c:f>
              <c:numCache>
                <c:formatCode>General</c:formatCode>
                <c:ptCount val="4"/>
                <c:pt idx="0">
                  <c:v>31</c:v>
                </c:pt>
                <c:pt idx="1">
                  <c:v>55</c:v>
                </c:pt>
                <c:pt idx="2">
                  <c:v>91</c:v>
                </c:pt>
                <c:pt idx="3">
                  <c:v>98</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Correlation with PM2.5 k hours earlier</a:t>
            </a:r>
          </a:p>
        </c:rich>
      </c:tx>
      <c:layout/>
      <c:overlay val="0"/>
    </c:title>
    <c:autoTitleDeleted val="0"/>
    <c:plotArea>
      <c:layout/>
      <c:lineChart>
        <c:varyColors val="0"/>
        <c:ser>
          <c:idx val="0"/>
          <c:order val="0"/>
          <c:tx>
            <c:strRef>
              <c:f>Sheet1!$B$1</c:f>
              <c:strCache>
                <c:ptCount val="1"/>
                <c:pt idx="0">
                  <c:v>Autocorrelation</c:v>
                </c:pt>
              </c:strCache>
            </c:strRef>
          </c:tx>
          <c:spPr>
            <a:solidFill>
              <a:srgbClr val="16384A"/>
            </a:solidFill>
            <a:ln w="31750" cap="flat">
              <a:solidFill>
                <a:srgbClr val="16384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6384A"/>
              </a:solidFill>
              <a:ln w="9525" cap="flat">
                <a:solidFill>
                  <a:srgbClr val="16384A"/>
                </a:solidFill>
                <a:prstDash val="solid"/>
                <a:round/>
              </a:ln>
              <a:effectLst/>
            </c:spPr>
          </c:marker>
          <c:cat>
            <c:multiLvlStrRef>
              <c:f>Sheet1!$A$2:$A$73</c:f>
              <c:multiLvlStrCache>
                <c:ptCount val="72"/>
                <c:lvl>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
                  </c:pt>
                  <c:pt idx="18">
                    <c:v/>
                  </c:pt>
                  <c:pt idx="19">
                    <c:v/>
                  </c:pt>
                  <c:pt idx="20">
                    <c:v/>
                  </c:pt>
                  <c:pt idx="21">
                    <c:v/>
                  </c:pt>
                  <c:pt idx="22">
                    <c:v/>
                  </c:pt>
                  <c:pt idx="23">
                    <c:v>24</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48</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72</c:v>
                  </c:pt>
                </c:lvl>
              </c:multiLvlStrCache>
            </c:multiLvlStrRef>
          </c:cat>
          <c:val>
            <c:numRef>
              <c:f>Sheet1!$B$2:$B$73</c:f>
              <c:numCache>
                <c:formatCode>General</c:formatCode>
                <c:ptCount val="72"/>
                <c:pt idx="0">
                  <c:v>0.965</c:v>
                </c:pt>
                <c:pt idx="1">
                  <c:v>0.92</c:v>
                </c:pt>
                <c:pt idx="2">
                  <c:v>0.874</c:v>
                </c:pt>
                <c:pt idx="3">
                  <c:v>0.829</c:v>
                </c:pt>
                <c:pt idx="4">
                  <c:v>0.787</c:v>
                </c:pt>
                <c:pt idx="5">
                  <c:v>0.747</c:v>
                </c:pt>
                <c:pt idx="6">
                  <c:v>0.709</c:v>
                </c:pt>
                <c:pt idx="7">
                  <c:v>0.674</c:v>
                </c:pt>
                <c:pt idx="8">
                  <c:v>0.642</c:v>
                </c:pt>
                <c:pt idx="9">
                  <c:v>0.614</c:v>
                </c:pt>
                <c:pt idx="10">
                  <c:v>0.588</c:v>
                </c:pt>
                <c:pt idx="11">
                  <c:v>0.565</c:v>
                </c:pt>
                <c:pt idx="12">
                  <c:v>0.544</c:v>
                </c:pt>
                <c:pt idx="13">
                  <c:v>0.524</c:v>
                </c:pt>
                <c:pt idx="14">
                  <c:v>0.507</c:v>
                </c:pt>
                <c:pt idx="15">
                  <c:v>0.493</c:v>
                </c:pt>
                <c:pt idx="16">
                  <c:v>0.48</c:v>
                </c:pt>
                <c:pt idx="17">
                  <c:v>0.469</c:v>
                </c:pt>
                <c:pt idx="18">
                  <c:v>0.459</c:v>
                </c:pt>
                <c:pt idx="19">
                  <c:v>0.448</c:v>
                </c:pt>
                <c:pt idx="20">
                  <c:v>0.437</c:v>
                </c:pt>
                <c:pt idx="21">
                  <c:v>0.425</c:v>
                </c:pt>
                <c:pt idx="22">
                  <c:v>0.413</c:v>
                </c:pt>
                <c:pt idx="23">
                  <c:v>0.398</c:v>
                </c:pt>
                <c:pt idx="24">
                  <c:v>0.382</c:v>
                </c:pt>
                <c:pt idx="25">
                  <c:v>0.364</c:v>
                </c:pt>
                <c:pt idx="26">
                  <c:v>0.345</c:v>
                </c:pt>
                <c:pt idx="27">
                  <c:v>0.325</c:v>
                </c:pt>
                <c:pt idx="28">
                  <c:v>0.306</c:v>
                </c:pt>
                <c:pt idx="29">
                  <c:v>0.288</c:v>
                </c:pt>
                <c:pt idx="30">
                  <c:v>0.271</c:v>
                </c:pt>
                <c:pt idx="31">
                  <c:v>0.255</c:v>
                </c:pt>
                <c:pt idx="32">
                  <c:v>0.24</c:v>
                </c:pt>
                <c:pt idx="33">
                  <c:v>0.227</c:v>
                </c:pt>
                <c:pt idx="34">
                  <c:v>0.215</c:v>
                </c:pt>
                <c:pt idx="35">
                  <c:v>0.204</c:v>
                </c:pt>
                <c:pt idx="36">
                  <c:v>0.194</c:v>
                </c:pt>
                <c:pt idx="37">
                  <c:v>0.187</c:v>
                </c:pt>
                <c:pt idx="38">
                  <c:v>0.181</c:v>
                </c:pt>
                <c:pt idx="39">
                  <c:v>0.176</c:v>
                </c:pt>
                <c:pt idx="40">
                  <c:v>0.173</c:v>
                </c:pt>
                <c:pt idx="41">
                  <c:v>0.17</c:v>
                </c:pt>
                <c:pt idx="42">
                  <c:v>0.167</c:v>
                </c:pt>
                <c:pt idx="43">
                  <c:v>0.166</c:v>
                </c:pt>
                <c:pt idx="44">
                  <c:v>0.164</c:v>
                </c:pt>
                <c:pt idx="45">
                  <c:v>0.161</c:v>
                </c:pt>
                <c:pt idx="46">
                  <c:v>0.157</c:v>
                </c:pt>
                <c:pt idx="47">
                  <c:v>0.153</c:v>
                </c:pt>
                <c:pt idx="48">
                  <c:v>0.146</c:v>
                </c:pt>
                <c:pt idx="49">
                  <c:v>0.139</c:v>
                </c:pt>
                <c:pt idx="50">
                  <c:v>0.13</c:v>
                </c:pt>
                <c:pt idx="51">
                  <c:v>0.12</c:v>
                </c:pt>
                <c:pt idx="52">
                  <c:v>0.11</c:v>
                </c:pt>
                <c:pt idx="53">
                  <c:v>0.102</c:v>
                </c:pt>
                <c:pt idx="54">
                  <c:v>0.094</c:v>
                </c:pt>
                <c:pt idx="55">
                  <c:v>0.086</c:v>
                </c:pt>
                <c:pt idx="56">
                  <c:v>0.079</c:v>
                </c:pt>
                <c:pt idx="57">
                  <c:v>0.073</c:v>
                </c:pt>
                <c:pt idx="58">
                  <c:v>0.069</c:v>
                </c:pt>
                <c:pt idx="59">
                  <c:v>0.065</c:v>
                </c:pt>
                <c:pt idx="60">
                  <c:v>0.063</c:v>
                </c:pt>
                <c:pt idx="61">
                  <c:v>0.062</c:v>
                </c:pt>
                <c:pt idx="62">
                  <c:v>0.062</c:v>
                </c:pt>
                <c:pt idx="63">
                  <c:v>0.063</c:v>
                </c:pt>
                <c:pt idx="64">
                  <c:v>0.064</c:v>
                </c:pt>
                <c:pt idx="65">
                  <c:v>0.066</c:v>
                </c:pt>
                <c:pt idx="66">
                  <c:v>0.068</c:v>
                </c:pt>
                <c:pt idx="67">
                  <c:v>0.07</c:v>
                </c:pt>
                <c:pt idx="68">
                  <c:v>0.072</c:v>
                </c:pt>
                <c:pt idx="69">
                  <c:v>0.073</c:v>
                </c:pt>
                <c:pt idx="70">
                  <c:v>0.074</c:v>
                </c:pt>
                <c:pt idx="71">
                  <c:v>0.074</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tickLblSkip val="12"/>
      </c:catAx>
      <c:valAx>
        <c:axId val="2094734552"/>
        <c:scaling>
          <c:orientation val="minMax"/>
          <c:max val="1"/>
          <c:min val="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MAE per test period (µg/m³, lower is better)</a:t>
            </a:r>
          </a:p>
        </c:rich>
      </c:tx>
      <c:layout/>
      <c:overlay val="0"/>
    </c:title>
    <c:autoTitleDeleted val="0"/>
    <c:plotArea>
      <c:layout/>
      <c:barChart>
        <c:barDir val="col"/>
        <c:grouping val="clustered"/>
        <c:varyColors val="0"/>
        <c:ser>
          <c:idx val="0"/>
          <c:order val="0"/>
          <c:tx>
            <c:strRef>
              <c:f>Sheet1!$B$1</c:f>
              <c:strCache>
                <c:ptCount val="1"/>
                <c:pt idx="0">
                  <c:v>Seasonal naive</c:v>
                </c:pt>
              </c:strCache>
            </c:strRef>
          </c:tx>
          <c:spPr>
            <a:solidFill>
              <a:srgbClr val="C9D3D9"/>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Jan–Jun 13</c:v>
                  </c:pt>
                  <c:pt idx="1">
                    <c:v>Jul–Dec 13</c:v>
                  </c:pt>
                  <c:pt idx="2">
                    <c:v>Jan–Jun 14</c:v>
                  </c:pt>
                  <c:pt idx="3">
                    <c:v>Jul–Dec 14</c:v>
                  </c:pt>
                </c:lvl>
              </c:multiLvlStrCache>
            </c:multiLvlStrRef>
          </c:cat>
          <c:val>
            <c:numRef>
              <c:f>Sheet1!$B$2:$B$5</c:f>
              <c:numCache>
                <c:formatCode>General</c:formatCode>
                <c:ptCount val="4"/>
                <c:pt idx="0">
                  <c:v>88.2</c:v>
                </c:pt>
                <c:pt idx="1">
                  <c:v>63.8</c:v>
                </c:pt>
                <c:pt idx="2">
                  <c:v>69.1</c:v>
                </c:pt>
                <c:pt idx="3">
                  <c:v>66.3</c:v>
                </c:pt>
              </c:numCache>
            </c:numRef>
          </c:val>
        </c:ser>
        <c:ser>
          <c:idx val="1"/>
          <c:order val="1"/>
          <c:tx>
            <c:strRef>
              <c:f>Sheet1!$C$1</c:f>
              <c:strCache>
                <c:ptCount val="1"/>
                <c:pt idx="0">
                  <c:v>Persistence</c:v>
                </c:pt>
              </c:strCache>
            </c:strRef>
          </c:tx>
          <c:spPr>
            <a:solidFill>
              <a:srgbClr val="8A969E"/>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Jan–Jun 13</c:v>
                  </c:pt>
                  <c:pt idx="1">
                    <c:v>Jul–Dec 13</c:v>
                  </c:pt>
                  <c:pt idx="2">
                    <c:v>Jan–Jun 14</c:v>
                  </c:pt>
                  <c:pt idx="3">
                    <c:v>Jul–Dec 14</c:v>
                  </c:pt>
                </c:lvl>
              </c:multiLvlStrCache>
            </c:multiLvlStrRef>
          </c:cat>
          <c:val>
            <c:numRef>
              <c:f>Sheet1!$C$2:$C$5</c:f>
              <c:numCache>
                <c:formatCode>General</c:formatCode>
                <c:ptCount val="4"/>
                <c:pt idx="0">
                  <c:v>46.8</c:v>
                </c:pt>
                <c:pt idx="1">
                  <c:v>38.5</c:v>
                </c:pt>
                <c:pt idx="2">
                  <c:v>40.2</c:v>
                </c:pt>
                <c:pt idx="3">
                  <c:v>37.5</c:v>
                </c:pt>
              </c:numCache>
            </c:numRef>
          </c:val>
        </c:ser>
        <c:ser>
          <c:idx val="2"/>
          <c:order val="2"/>
          <c:tx>
            <c:strRef>
              <c:f>Sheet1!$D$1</c:f>
              <c:strCache>
                <c:ptCount val="1"/>
                <c:pt idx="0">
                  <c:v>XGBoost</c:v>
                </c:pt>
              </c:strCache>
            </c:strRef>
          </c:tx>
          <c:spPr>
            <a:solidFill>
              <a:srgbClr val="E07A2F"/>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Jan–Jun 13</c:v>
                  </c:pt>
                  <c:pt idx="1">
                    <c:v>Jul–Dec 13</c:v>
                  </c:pt>
                  <c:pt idx="2">
                    <c:v>Jan–Jun 14</c:v>
                  </c:pt>
                  <c:pt idx="3">
                    <c:v>Jul–Dec 14</c:v>
                  </c:pt>
                </c:lvl>
              </c:multiLvlStrCache>
            </c:multiLvlStrRef>
          </c:cat>
          <c:val>
            <c:numRef>
              <c:f>Sheet1!$D$2:$D$5</c:f>
              <c:numCache>
                <c:formatCode>General</c:formatCode>
                <c:ptCount val="4"/>
                <c:pt idx="0">
                  <c:v>43</c:v>
                </c:pt>
                <c:pt idx="1">
                  <c:v>32.2</c:v>
                </c:pt>
                <c:pt idx="2">
                  <c:v>36.1</c:v>
                </c:pt>
                <c:pt idx="3">
                  <c:v>31.7</c:v>
                </c:pt>
              </c:numCache>
            </c:numRef>
          </c:val>
        </c:ser>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6-hour-ahead forecast vs actual PM2.5, 25–31 Dec 2014 (µg/m³)</a:t>
            </a:r>
          </a:p>
        </c:rich>
      </c:tx>
      <c:layout/>
      <c:overlay val="0"/>
    </c:title>
    <c:autoTitleDeleted val="0"/>
    <c:plotArea>
      <c:layout/>
      <c:lineChart>
        <c:varyColors val="0"/>
        <c:ser>
          <c:idx val="0"/>
          <c:order val="0"/>
          <c:tx>
            <c:strRef>
              <c:f>Sheet1!$B$1</c:f>
              <c:strCache>
                <c:ptCount val="1"/>
                <c:pt idx="0">
                  <c:v>Actual</c:v>
                </c:pt>
              </c:strCache>
            </c:strRef>
          </c:tx>
          <c:spPr>
            <a:solidFill>
              <a:srgbClr val="1F2933"/>
            </a:solidFill>
            <a:ln w="25400" cap="flat">
              <a:solidFill>
                <a:srgbClr val="1F2933"/>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F2933"/>
              </a:solidFill>
              <a:ln w="9525" cap="flat">
                <a:solidFill>
                  <a:srgbClr val="1F2933"/>
                </a:solidFill>
                <a:prstDash val="solid"/>
                <a:round/>
              </a:ln>
              <a:effectLst/>
            </c:spPr>
          </c:marker>
          <c:cat>
            <c:multiLvlStrRef>
              <c:f>Sheet1!$A$2:$A$169</c:f>
              <c:multiLvlStrCache>
                <c:ptCount val="168"/>
                <c:lvl>
                  <c:pt idx="0">
                    <c:v>25 Dec</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26 Dec</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27 Dec</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28 Dec</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29 Dec</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30 Dec</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31 Dec</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lvl>
              </c:multiLvlStrCache>
            </c:multiLvlStrRef>
          </c:cat>
          <c:val>
            <c:numRef>
              <c:f>Sheet1!$B$2:$B$169</c:f>
              <c:numCache>
                <c:formatCode>General</c:formatCode>
                <c:ptCount val="168"/>
                <c:pt idx="0">
                  <c:v>20</c:v>
                </c:pt>
                <c:pt idx="1">
                  <c:v>22</c:v>
                </c:pt>
                <c:pt idx="2">
                  <c:v>22</c:v>
                </c:pt>
                <c:pt idx="3">
                  <c:v>10</c:v>
                </c:pt>
                <c:pt idx="4">
                  <c:v>14</c:v>
                </c:pt>
                <c:pt idx="5">
                  <c:v>14</c:v>
                </c:pt>
                <c:pt idx="6">
                  <c:v>18</c:v>
                </c:pt>
                <c:pt idx="7">
                  <c:v>13</c:v>
                </c:pt>
                <c:pt idx="8">
                  <c:v>18</c:v>
                </c:pt>
                <c:pt idx="9">
                  <c:v>27</c:v>
                </c:pt>
                <c:pt idx="10">
                  <c:v>38</c:v>
                </c:pt>
                <c:pt idx="11">
                  <c:v>25</c:v>
                </c:pt>
                <c:pt idx="12">
                  <c:v>16</c:v>
                </c:pt>
                <c:pt idx="13">
                  <c:v>16</c:v>
                </c:pt>
                <c:pt idx="14">
                  <c:v>9</c:v>
                </c:pt>
                <c:pt idx="15">
                  <c:v>8</c:v>
                </c:pt>
                <c:pt idx="16">
                  <c:v>18</c:v>
                </c:pt>
                <c:pt idx="17">
                  <c:v>31</c:v>
                </c:pt>
                <c:pt idx="18">
                  <c:v>38</c:v>
                </c:pt>
                <c:pt idx="19">
                  <c:v>49</c:v>
                </c:pt>
                <c:pt idx="20">
                  <c:v>52</c:v>
                </c:pt>
                <c:pt idx="21">
                  <c:v>50</c:v>
                </c:pt>
                <c:pt idx="22">
                  <c:v>51</c:v>
                </c:pt>
                <c:pt idx="23">
                  <c:v>69</c:v>
                </c:pt>
                <c:pt idx="24">
                  <c:v>93</c:v>
                </c:pt>
                <c:pt idx="25">
                  <c:v>94</c:v>
                </c:pt>
                <c:pt idx="26">
                  <c:v>147</c:v>
                </c:pt>
                <c:pt idx="27">
                  <c:v>226</c:v>
                </c:pt>
                <c:pt idx="28">
                  <c:v>179</c:v>
                </c:pt>
                <c:pt idx="29">
                  <c:v>153</c:v>
                </c:pt>
                <c:pt idx="30">
                  <c:v>133</c:v>
                </c:pt>
                <c:pt idx="31">
                  <c:v>127</c:v>
                </c:pt>
                <c:pt idx="32">
                  <c:v>119</c:v>
                </c:pt>
                <c:pt idx="33">
                  <c:v>111</c:v>
                </c:pt>
                <c:pt idx="34">
                  <c:v>118</c:v>
                </c:pt>
                <c:pt idx="35">
                  <c:v>116</c:v>
                </c:pt>
                <c:pt idx="36">
                  <c:v>131</c:v>
                </c:pt>
                <c:pt idx="37">
                  <c:v>152</c:v>
                </c:pt>
                <c:pt idx="38">
                  <c:v>163</c:v>
                </c:pt>
                <c:pt idx="39">
                  <c:v>171</c:v>
                </c:pt>
                <c:pt idx="40">
                  <c:v>198</c:v>
                </c:pt>
                <c:pt idx="41">
                  <c:v>234</c:v>
                </c:pt>
                <c:pt idx="42">
                  <c:v>260</c:v>
                </c:pt>
                <c:pt idx="43">
                  <c:v>271</c:v>
                </c:pt>
                <c:pt idx="44">
                  <c:v>244</c:v>
                </c:pt>
                <c:pt idx="45">
                  <c:v>242</c:v>
                </c:pt>
                <c:pt idx="46">
                  <c:v>210</c:v>
                </c:pt>
                <c:pt idx="47">
                  <c:v>194</c:v>
                </c:pt>
                <c:pt idx="48">
                  <c:v>163</c:v>
                </c:pt>
                <c:pt idx="49">
                  <c:v>194</c:v>
                </c:pt>
                <c:pt idx="50">
                  <c:v>187</c:v>
                </c:pt>
                <c:pt idx="51">
                  <c:v>216</c:v>
                </c:pt>
                <c:pt idx="52">
                  <c:v>225</c:v>
                </c:pt>
                <c:pt idx="53">
                  <c:v>199</c:v>
                </c:pt>
                <c:pt idx="54">
                  <c:v>207</c:v>
                </c:pt>
                <c:pt idx="55">
                  <c:v>227</c:v>
                </c:pt>
                <c:pt idx="56">
                  <c:v>259</c:v>
                </c:pt>
                <c:pt idx="57">
                  <c:v>182</c:v>
                </c:pt>
                <c:pt idx="58">
                  <c:v>185</c:v>
                </c:pt>
                <c:pt idx="59">
                  <c:v>191</c:v>
                </c:pt>
                <c:pt idx="60">
                  <c:v>194</c:v>
                </c:pt>
                <c:pt idx="61">
                  <c:v>194</c:v>
                </c:pt>
                <c:pt idx="62">
                  <c:v>192</c:v>
                </c:pt>
                <c:pt idx="63">
                  <c:v>208</c:v>
                </c:pt>
                <c:pt idx="64">
                  <c:v>224</c:v>
                </c:pt>
                <c:pt idx="65">
                  <c:v>249</c:v>
                </c:pt>
                <c:pt idx="66">
                  <c:v>317</c:v>
                </c:pt>
                <c:pt idx="67">
                  <c:v>328</c:v>
                </c:pt>
                <c:pt idx="68">
                  <c:v>349</c:v>
                </c:pt>
                <c:pt idx="69">
                  <c:v>327</c:v>
                </c:pt>
                <c:pt idx="70">
                  <c:v>348</c:v>
                </c:pt>
                <c:pt idx="71">
                  <c:v>363</c:v>
                </c:pt>
                <c:pt idx="72">
                  <c:v>385</c:v>
                </c:pt>
                <c:pt idx="73">
                  <c:v>393</c:v>
                </c:pt>
                <c:pt idx="74">
                  <c:v>388</c:v>
                </c:pt>
                <c:pt idx="75">
                  <c:v>444</c:v>
                </c:pt>
                <c:pt idx="76">
                  <c:v>334</c:v>
                </c:pt>
                <c:pt idx="77">
                  <c:v>284</c:v>
                </c:pt>
                <c:pt idx="78">
                  <c:v>264</c:v>
                </c:pt>
                <c:pt idx="79">
                  <c:v>221</c:v>
                </c:pt>
                <c:pt idx="80">
                  <c:v>160</c:v>
                </c:pt>
                <c:pt idx="81">
                  <c:v>160</c:v>
                </c:pt>
                <c:pt idx="82">
                  <c:v>92</c:v>
                </c:pt>
                <c:pt idx="83">
                  <c:v>59</c:v>
                </c:pt>
                <c:pt idx="84">
                  <c:v>69</c:v>
                </c:pt>
                <c:pt idx="85">
                  <c:v>48</c:v>
                </c:pt>
                <c:pt idx="86">
                  <c:v>32</c:v>
                </c:pt>
                <c:pt idx="87">
                  <c:v>33</c:v>
                </c:pt>
                <c:pt idx="88">
                  <c:v>45</c:v>
                </c:pt>
                <c:pt idx="89">
                  <c:v>42</c:v>
                </c:pt>
                <c:pt idx="90">
                  <c:v>41</c:v>
                </c:pt>
                <c:pt idx="91">
                  <c:v>110</c:v>
                </c:pt>
                <c:pt idx="92">
                  <c:v>175</c:v>
                </c:pt>
                <c:pt idx="93">
                  <c:v>293</c:v>
                </c:pt>
                <c:pt idx="94">
                  <c:v>324</c:v>
                </c:pt>
                <c:pt idx="95">
                  <c:v>341</c:v>
                </c:pt>
                <c:pt idx="96">
                  <c:v>362</c:v>
                </c:pt>
                <c:pt idx="97">
                  <c:v>372</c:v>
                </c:pt>
                <c:pt idx="98">
                  <c:v>373</c:v>
                </c:pt>
                <c:pt idx="99">
                  <c:v>372</c:v>
                </c:pt>
                <c:pt idx="100">
                  <c:v>318</c:v>
                </c:pt>
                <c:pt idx="101">
                  <c:v>188</c:v>
                </c:pt>
                <c:pt idx="102">
                  <c:v>171</c:v>
                </c:pt>
                <c:pt idx="103">
                  <c:v>136</c:v>
                </c:pt>
                <c:pt idx="104">
                  <c:v>124</c:v>
                </c:pt>
                <c:pt idx="105">
                  <c:v>141</c:v>
                </c:pt>
                <c:pt idx="106">
                  <c:v>132</c:v>
                </c:pt>
                <c:pt idx="107">
                  <c:v>134</c:v>
                </c:pt>
                <c:pt idx="108">
                  <c:v>56</c:v>
                </c:pt>
                <c:pt idx="109">
                  <c:v>48</c:v>
                </c:pt>
                <c:pt idx="110">
                  <c:v>27</c:v>
                </c:pt>
                <c:pt idx="111">
                  <c:v>28</c:v>
                </c:pt>
                <c:pt idx="112">
                  <c:v>20</c:v>
                </c:pt>
                <c:pt idx="113">
                  <c:v>22</c:v>
                </c:pt>
                <c:pt idx="114">
                  <c:v>120</c:v>
                </c:pt>
                <c:pt idx="115">
                  <c:v>109</c:v>
                </c:pt>
                <c:pt idx="116">
                  <c:v>112</c:v>
                </c:pt>
                <c:pt idx="117">
                  <c:v>128</c:v>
                </c:pt>
                <c:pt idx="118">
                  <c:v>164</c:v>
                </c:pt>
                <c:pt idx="119">
                  <c:v>159</c:v>
                </c:pt>
                <c:pt idx="120">
                  <c:v>189</c:v>
                </c:pt>
                <c:pt idx="121">
                  <c:v>97</c:v>
                </c:pt>
                <c:pt idx="122">
                  <c:v>81</c:v>
                </c:pt>
                <c:pt idx="123">
                  <c:v>28</c:v>
                </c:pt>
                <c:pt idx="124">
                  <c:v>25</c:v>
                </c:pt>
                <c:pt idx="125">
                  <c:v>9</c:v>
                </c:pt>
                <c:pt idx="126">
                  <c:v>9</c:v>
                </c:pt>
                <c:pt idx="127">
                  <c:v>13</c:v>
                </c:pt>
                <c:pt idx="128">
                  <c:v>17</c:v>
                </c:pt>
                <c:pt idx="129">
                  <c:v>16</c:v>
                </c:pt>
                <c:pt idx="130">
                  <c:v>25</c:v>
                </c:pt>
                <c:pt idx="131">
                  <c:v>48</c:v>
                </c:pt>
                <c:pt idx="132">
                  <c:v>49</c:v>
                </c:pt>
                <c:pt idx="133">
                  <c:v>73</c:v>
                </c:pt>
                <c:pt idx="134">
                  <c:v>65</c:v>
                </c:pt>
                <c:pt idx="135">
                  <c:v>55</c:v>
                </c:pt>
                <c:pt idx="136">
                  <c:v>60</c:v>
                </c:pt>
                <c:pt idx="137">
                  <c:v>63</c:v>
                </c:pt>
                <c:pt idx="138">
                  <c:v>79</c:v>
                </c:pt>
                <c:pt idx="139">
                  <c:v>35</c:v>
                </c:pt>
                <c:pt idx="140">
                  <c:v>26</c:v>
                </c:pt>
                <c:pt idx="141">
                  <c:v>20</c:v>
                </c:pt>
                <c:pt idx="142">
                  <c:v>8</c:v>
                </c:pt>
                <c:pt idx="143">
                  <c:v>16</c:v>
                </c:pt>
                <c:pt idx="144">
                  <c:v>10</c:v>
                </c:pt>
                <c:pt idx="145">
                  <c:v>11</c:v>
                </c:pt>
                <c:pt idx="146">
                  <c:v>20</c:v>
                </c:pt>
                <c:pt idx="147">
                  <c:v>9</c:v>
                </c:pt>
                <c:pt idx="148">
                  <c:v>8</c:v>
                </c:pt>
                <c:pt idx="149">
                  <c:v>9</c:v>
                </c:pt>
                <c:pt idx="150">
                  <c:v>8</c:v>
                </c:pt>
                <c:pt idx="151">
                  <c:v>8</c:v>
                </c:pt>
                <c:pt idx="152">
                  <c:v>8</c:v>
                </c:pt>
                <c:pt idx="153">
                  <c:v>8</c:v>
                </c:pt>
                <c:pt idx="154">
                  <c:v>7</c:v>
                </c:pt>
                <c:pt idx="155">
                  <c:v>12</c:v>
                </c:pt>
                <c:pt idx="156">
                  <c:v>17</c:v>
                </c:pt>
                <c:pt idx="157">
                  <c:v>11</c:v>
                </c:pt>
                <c:pt idx="158">
                  <c:v>9</c:v>
                </c:pt>
                <c:pt idx="159">
                  <c:v>11</c:v>
                </c:pt>
                <c:pt idx="160">
                  <c:v>8</c:v>
                </c:pt>
                <c:pt idx="161">
                  <c:v>9</c:v>
                </c:pt>
                <c:pt idx="162">
                  <c:v>10</c:v>
                </c:pt>
                <c:pt idx="163">
                  <c:v>8</c:v>
                </c:pt>
                <c:pt idx="164">
                  <c:v>10</c:v>
                </c:pt>
                <c:pt idx="165">
                  <c:v>10</c:v>
                </c:pt>
                <c:pt idx="166">
                  <c:v>8</c:v>
                </c:pt>
                <c:pt idx="167">
                  <c:v>12</c:v>
                </c:pt>
              </c:numCache>
            </c:numRef>
          </c:val>
          <c:smooth val="0"/>
        </c:ser>
        <c:ser>
          <c:idx val="1"/>
          <c:order val="1"/>
          <c:tx>
            <c:strRef>
              <c:f>Sheet1!$C$1</c:f>
              <c:strCache>
                <c:ptCount val="1"/>
                <c:pt idx="0">
                  <c:v>XGBoost</c:v>
                </c:pt>
              </c:strCache>
            </c:strRef>
          </c:tx>
          <c:spPr>
            <a:solidFill>
              <a:srgbClr val="E07A2F"/>
            </a:solidFill>
            <a:ln w="25400" cap="flat">
              <a:solidFill>
                <a:srgbClr val="E07A2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07A2F"/>
              </a:solidFill>
              <a:ln w="9525" cap="flat">
                <a:solidFill>
                  <a:srgbClr val="E07A2F"/>
                </a:solidFill>
                <a:prstDash val="solid"/>
                <a:round/>
              </a:ln>
              <a:effectLst/>
            </c:spPr>
          </c:marker>
          <c:cat>
            <c:multiLvlStrRef>
              <c:f>Sheet1!$A$2:$A$169</c:f>
              <c:multiLvlStrCache>
                <c:ptCount val="168"/>
                <c:lvl>
                  <c:pt idx="0">
                    <c:v>25 Dec</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26 Dec</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27 Dec</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28 Dec</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29 Dec</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30 Dec</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31 Dec</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lvl>
              </c:multiLvlStrCache>
            </c:multiLvlStrRef>
          </c:cat>
          <c:val>
            <c:numRef>
              <c:f>Sheet1!$C$2:$C$169</c:f>
              <c:numCache>
                <c:formatCode>General</c:formatCode>
                <c:ptCount val="168"/>
                <c:pt idx="0">
                  <c:v>30.8</c:v>
                </c:pt>
                <c:pt idx="1">
                  <c:v>25.5</c:v>
                </c:pt>
                <c:pt idx="2">
                  <c:v>24.9</c:v>
                </c:pt>
                <c:pt idx="3">
                  <c:v>19.5</c:v>
                </c:pt>
                <c:pt idx="4">
                  <c:v>16.9</c:v>
                </c:pt>
                <c:pt idx="5">
                  <c:v>16.5</c:v>
                </c:pt>
                <c:pt idx="6">
                  <c:v>19.8</c:v>
                </c:pt>
                <c:pt idx="7">
                  <c:v>25.4</c:v>
                </c:pt>
                <c:pt idx="8">
                  <c:v>23.3</c:v>
                </c:pt>
                <c:pt idx="9">
                  <c:v>20.7</c:v>
                </c:pt>
                <c:pt idx="10">
                  <c:v>18</c:v>
                </c:pt>
                <c:pt idx="11">
                  <c:v>27.5</c:v>
                </c:pt>
                <c:pt idx="12">
                  <c:v>30.9</c:v>
                </c:pt>
                <c:pt idx="13">
                  <c:v>25.5</c:v>
                </c:pt>
                <c:pt idx="14">
                  <c:v>25.8</c:v>
                </c:pt>
                <c:pt idx="15">
                  <c:v>27.7</c:v>
                </c:pt>
                <c:pt idx="16">
                  <c:v>44.4</c:v>
                </c:pt>
                <c:pt idx="17">
                  <c:v>26.6</c:v>
                </c:pt>
                <c:pt idx="18">
                  <c:v>28</c:v>
                </c:pt>
                <c:pt idx="19">
                  <c:v>34.9</c:v>
                </c:pt>
                <c:pt idx="20">
                  <c:v>52</c:v>
                </c:pt>
                <c:pt idx="21">
                  <c:v>52.2</c:v>
                </c:pt>
                <c:pt idx="22">
                  <c:v>70.2</c:v>
                </c:pt>
                <c:pt idx="23">
                  <c:v>76.8</c:v>
                </c:pt>
                <c:pt idx="24">
                  <c:v>81.4</c:v>
                </c:pt>
                <c:pt idx="25">
                  <c:v>95.8</c:v>
                </c:pt>
                <c:pt idx="26">
                  <c:v>97</c:v>
                </c:pt>
                <c:pt idx="27">
                  <c:v>90.5</c:v>
                </c:pt>
                <c:pt idx="28">
                  <c:v>88.6</c:v>
                </c:pt>
                <c:pt idx="29">
                  <c:v>99</c:v>
                </c:pt>
                <c:pt idx="30">
                  <c:v>113.2</c:v>
                </c:pt>
                <c:pt idx="31">
                  <c:v>98.4</c:v>
                </c:pt>
                <c:pt idx="32">
                  <c:v>108</c:v>
                </c:pt>
                <c:pt idx="33">
                  <c:v>158.2</c:v>
                </c:pt>
                <c:pt idx="34">
                  <c:v>96.5</c:v>
                </c:pt>
                <c:pt idx="35">
                  <c:v>110.5</c:v>
                </c:pt>
                <c:pt idx="36">
                  <c:v>91.5</c:v>
                </c:pt>
                <c:pt idx="37">
                  <c:v>89.7</c:v>
                </c:pt>
                <c:pt idx="38">
                  <c:v>128.7</c:v>
                </c:pt>
                <c:pt idx="39">
                  <c:v>160.7</c:v>
                </c:pt>
                <c:pt idx="40">
                  <c:v>140.7</c:v>
                </c:pt>
                <c:pt idx="41">
                  <c:v>166.8</c:v>
                </c:pt>
                <c:pt idx="42">
                  <c:v>150.7</c:v>
                </c:pt>
                <c:pt idx="43">
                  <c:v>181.9</c:v>
                </c:pt>
                <c:pt idx="44">
                  <c:v>218.1</c:v>
                </c:pt>
                <c:pt idx="45">
                  <c:v>243.3</c:v>
                </c:pt>
                <c:pt idx="46">
                  <c:v>255.3</c:v>
                </c:pt>
                <c:pt idx="47">
                  <c:v>259.3</c:v>
                </c:pt>
                <c:pt idx="48">
                  <c:v>269.3</c:v>
                </c:pt>
                <c:pt idx="49">
                  <c:v>272.2</c:v>
                </c:pt>
                <c:pt idx="50">
                  <c:v>176.6</c:v>
                </c:pt>
                <c:pt idx="51">
                  <c:v>209.7</c:v>
                </c:pt>
                <c:pt idx="52">
                  <c:v>191</c:v>
                </c:pt>
                <c:pt idx="53">
                  <c:v>185.2</c:v>
                </c:pt>
                <c:pt idx="54">
                  <c:v>146.3</c:v>
                </c:pt>
                <c:pt idx="55">
                  <c:v>140.8</c:v>
                </c:pt>
                <c:pt idx="56">
                  <c:v>117.9</c:v>
                </c:pt>
                <c:pt idx="57">
                  <c:v>126.1</c:v>
                </c:pt>
                <c:pt idx="58">
                  <c:v>129</c:v>
                </c:pt>
                <c:pt idx="59">
                  <c:v>159.7</c:v>
                </c:pt>
                <c:pt idx="60">
                  <c:v>167.9</c:v>
                </c:pt>
                <c:pt idx="61">
                  <c:v>186.7</c:v>
                </c:pt>
                <c:pt idx="62">
                  <c:v>208.2</c:v>
                </c:pt>
                <c:pt idx="63">
                  <c:v>138.2</c:v>
                </c:pt>
                <c:pt idx="64">
                  <c:v>155.2</c:v>
                </c:pt>
                <c:pt idx="65">
                  <c:v>149.8</c:v>
                </c:pt>
                <c:pt idx="66">
                  <c:v>181.2</c:v>
                </c:pt>
                <c:pt idx="67">
                  <c:v>272.5</c:v>
                </c:pt>
                <c:pt idx="68">
                  <c:v>280.4</c:v>
                </c:pt>
                <c:pt idx="69">
                  <c:v>310</c:v>
                </c:pt>
                <c:pt idx="70">
                  <c:v>297.5</c:v>
                </c:pt>
                <c:pt idx="71">
                  <c:v>301.1</c:v>
                </c:pt>
                <c:pt idx="72">
                  <c:v>354.2</c:v>
                </c:pt>
                <c:pt idx="73">
                  <c:v>366.2</c:v>
                </c:pt>
                <c:pt idx="74">
                  <c:v>320.3</c:v>
                </c:pt>
                <c:pt idx="75">
                  <c:v>291.6</c:v>
                </c:pt>
                <c:pt idx="76">
                  <c:v>265.2</c:v>
                </c:pt>
                <c:pt idx="77">
                  <c:v>226.4</c:v>
                </c:pt>
                <c:pt idx="78">
                  <c:v>187.3</c:v>
                </c:pt>
                <c:pt idx="79">
                  <c:v>217.5</c:v>
                </c:pt>
                <c:pt idx="80">
                  <c:v>192.8</c:v>
                </c:pt>
                <c:pt idx="81">
                  <c:v>167.8</c:v>
                </c:pt>
                <c:pt idx="82">
                  <c:v>118.7</c:v>
                </c:pt>
                <c:pt idx="83">
                  <c:v>109.9</c:v>
                </c:pt>
                <c:pt idx="84">
                  <c:v>124.3</c:v>
                </c:pt>
                <c:pt idx="85">
                  <c:v>146</c:v>
                </c:pt>
                <c:pt idx="86">
                  <c:v>145.3</c:v>
                </c:pt>
                <c:pt idx="87">
                  <c:v>170</c:v>
                </c:pt>
                <c:pt idx="88">
                  <c:v>87.9</c:v>
                </c:pt>
                <c:pt idx="89">
                  <c:v>93.5</c:v>
                </c:pt>
                <c:pt idx="90">
                  <c:v>169.5</c:v>
                </c:pt>
                <c:pt idx="91">
                  <c:v>155.7</c:v>
                </c:pt>
                <c:pt idx="92">
                  <c:v>116.7</c:v>
                </c:pt>
                <c:pt idx="93">
                  <c:v>83.6</c:v>
                </c:pt>
                <c:pt idx="94">
                  <c:v>71.9</c:v>
                </c:pt>
                <c:pt idx="95">
                  <c:v>84.1</c:v>
                </c:pt>
                <c:pt idx="96">
                  <c:v>79.2</c:v>
                </c:pt>
                <c:pt idx="97">
                  <c:v>123.2</c:v>
                </c:pt>
                <c:pt idx="98">
                  <c:v>252.2</c:v>
                </c:pt>
                <c:pt idx="99">
                  <c:v>354.8</c:v>
                </c:pt>
                <c:pt idx="100">
                  <c:v>347.1</c:v>
                </c:pt>
                <c:pt idx="101">
                  <c:v>290.1</c:v>
                </c:pt>
                <c:pt idx="102">
                  <c:v>249.9</c:v>
                </c:pt>
                <c:pt idx="103">
                  <c:v>245.4</c:v>
                </c:pt>
                <c:pt idx="104">
                  <c:v>261.9</c:v>
                </c:pt>
                <c:pt idx="105">
                  <c:v>227.6</c:v>
                </c:pt>
                <c:pt idx="106">
                  <c:v>171.4</c:v>
                </c:pt>
                <c:pt idx="107">
                  <c:v>168.8</c:v>
                </c:pt>
                <c:pt idx="108">
                  <c:v>172.6</c:v>
                </c:pt>
                <c:pt idx="109">
                  <c:v>138.1</c:v>
                </c:pt>
                <c:pt idx="110">
                  <c:v>179.7</c:v>
                </c:pt>
                <c:pt idx="111">
                  <c:v>256</c:v>
                </c:pt>
                <c:pt idx="112">
                  <c:v>202.1</c:v>
                </c:pt>
                <c:pt idx="113">
                  <c:v>218.2</c:v>
                </c:pt>
                <c:pt idx="114">
                  <c:v>104.6</c:v>
                </c:pt>
                <c:pt idx="115">
                  <c:v>127.8</c:v>
                </c:pt>
                <c:pt idx="116">
                  <c:v>113.3</c:v>
                </c:pt>
                <c:pt idx="117">
                  <c:v>107.2</c:v>
                </c:pt>
                <c:pt idx="118">
                  <c:v>85.9</c:v>
                </c:pt>
                <c:pt idx="119">
                  <c:v>67.8</c:v>
                </c:pt>
                <c:pt idx="120">
                  <c:v>225.1</c:v>
                </c:pt>
                <c:pt idx="121">
                  <c:v>200</c:v>
                </c:pt>
                <c:pt idx="122">
                  <c:v>165.5</c:v>
                </c:pt>
                <c:pt idx="123">
                  <c:v>184.6</c:v>
                </c:pt>
                <c:pt idx="124">
                  <c:v>185.8</c:v>
                </c:pt>
                <c:pt idx="125">
                  <c:v>149.1</c:v>
                </c:pt>
                <c:pt idx="126">
                  <c:v>196.6</c:v>
                </c:pt>
                <c:pt idx="127">
                  <c:v>84.6</c:v>
                </c:pt>
                <c:pt idx="128">
                  <c:v>52.5</c:v>
                </c:pt>
                <c:pt idx="129">
                  <c:v>19</c:v>
                </c:pt>
                <c:pt idx="130">
                  <c:v>20.4</c:v>
                </c:pt>
                <c:pt idx="131">
                  <c:v>12.2</c:v>
                </c:pt>
                <c:pt idx="132">
                  <c:v>21.1</c:v>
                </c:pt>
                <c:pt idx="133">
                  <c:v>36.3</c:v>
                </c:pt>
                <c:pt idx="134">
                  <c:v>31.1</c:v>
                </c:pt>
                <c:pt idx="135">
                  <c:v>25.1</c:v>
                </c:pt>
                <c:pt idx="136">
                  <c:v>36.2</c:v>
                </c:pt>
                <c:pt idx="137">
                  <c:v>81.8</c:v>
                </c:pt>
                <c:pt idx="138">
                  <c:v>101.9</c:v>
                </c:pt>
                <c:pt idx="139">
                  <c:v>116.9</c:v>
                </c:pt>
                <c:pt idx="140">
                  <c:v>122.4</c:v>
                </c:pt>
                <c:pt idx="141">
                  <c:v>115.4</c:v>
                </c:pt>
                <c:pt idx="142">
                  <c:v>123.1</c:v>
                </c:pt>
                <c:pt idx="143">
                  <c:v>129</c:v>
                </c:pt>
                <c:pt idx="144">
                  <c:v>85.9</c:v>
                </c:pt>
                <c:pt idx="145">
                  <c:v>39.4</c:v>
                </c:pt>
                <c:pt idx="146">
                  <c:v>24.2</c:v>
                </c:pt>
                <c:pt idx="147">
                  <c:v>22.6</c:v>
                </c:pt>
                <c:pt idx="148">
                  <c:v>17</c:v>
                </c:pt>
                <c:pt idx="149">
                  <c:v>13</c:v>
                </c:pt>
                <c:pt idx="150">
                  <c:v>8.1</c:v>
                </c:pt>
                <c:pt idx="151">
                  <c:v>8.8</c:v>
                </c:pt>
                <c:pt idx="152">
                  <c:v>15.5</c:v>
                </c:pt>
                <c:pt idx="153">
                  <c:v>13</c:v>
                </c:pt>
                <c:pt idx="154">
                  <c:v>12.5</c:v>
                </c:pt>
                <c:pt idx="155">
                  <c:v>14.6</c:v>
                </c:pt>
                <c:pt idx="156">
                  <c:v>10.7</c:v>
                </c:pt>
                <c:pt idx="157">
                  <c:v>11.3</c:v>
                </c:pt>
                <c:pt idx="158">
                  <c:v>12</c:v>
                </c:pt>
                <c:pt idx="159">
                  <c:v>14.1</c:v>
                </c:pt>
                <c:pt idx="160">
                  <c:v>15.9</c:v>
                </c:pt>
                <c:pt idx="161">
                  <c:v>17.3</c:v>
                </c:pt>
                <c:pt idx="162">
                  <c:v>21.5</c:v>
                </c:pt>
                <c:pt idx="163">
                  <c:v>22.6</c:v>
                </c:pt>
                <c:pt idx="164">
                  <c:v>25.6</c:v>
                </c:pt>
                <c:pt idx="165">
                  <c:v>29.9</c:v>
                </c:pt>
                <c:pt idx="166">
                  <c:v>27.4</c:v>
                </c:pt>
                <c:pt idx="167">
                  <c:v>19.4</c:v>
                </c:pt>
              </c:numCache>
            </c:numRef>
          </c:val>
          <c:smooth val="0"/>
        </c:ser>
        <c:ser>
          <c:idx val="2"/>
          <c:order val="2"/>
          <c:tx>
            <c:strRef>
              <c:f>Sheet1!$D$1</c:f>
              <c:strCache>
                <c:ptCount val="1"/>
                <c:pt idx="0">
                  <c:v>Persistence</c:v>
                </c:pt>
              </c:strCache>
            </c:strRef>
          </c:tx>
          <c:spPr>
            <a:solidFill>
              <a:srgbClr val="C9D3D9"/>
            </a:solidFill>
            <a:ln w="25400" cap="flat">
              <a:solidFill>
                <a:srgbClr val="C9D3D9"/>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D3D9"/>
              </a:solidFill>
              <a:ln w="9525" cap="flat">
                <a:solidFill>
                  <a:srgbClr val="C9D3D9"/>
                </a:solidFill>
                <a:prstDash val="solid"/>
                <a:round/>
              </a:ln>
              <a:effectLst/>
            </c:spPr>
          </c:marker>
          <c:cat>
            <c:multiLvlStrRef>
              <c:f>Sheet1!$A$2:$A$169</c:f>
              <c:multiLvlStrCache>
                <c:ptCount val="168"/>
                <c:lvl>
                  <c:pt idx="0">
                    <c:v>25 Dec</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26 Dec</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27 Dec</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28 Dec</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29 Dec</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30 Dec</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31 Dec</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lvl>
              </c:multiLvlStrCache>
            </c:multiLvlStrRef>
          </c:cat>
          <c:val>
            <c:numRef>
              <c:f>Sheet1!$D$2:$D$169</c:f>
              <c:numCache>
                <c:formatCode>General</c:formatCode>
                <c:ptCount val="168"/>
                <c:pt idx="0">
                  <c:v>12</c:v>
                </c:pt>
                <c:pt idx="1">
                  <c:v>20</c:v>
                </c:pt>
                <c:pt idx="2">
                  <c:v>23</c:v>
                </c:pt>
                <c:pt idx="3">
                  <c:v>16</c:v>
                </c:pt>
                <c:pt idx="4">
                  <c:v>17</c:v>
                </c:pt>
                <c:pt idx="5">
                  <c:v>18</c:v>
                </c:pt>
                <c:pt idx="6">
                  <c:v>20</c:v>
                </c:pt>
                <c:pt idx="7">
                  <c:v>22</c:v>
                </c:pt>
                <c:pt idx="8">
                  <c:v>22</c:v>
                </c:pt>
                <c:pt idx="9">
                  <c:v>10</c:v>
                </c:pt>
                <c:pt idx="10">
                  <c:v>14</c:v>
                </c:pt>
                <c:pt idx="11">
                  <c:v>14</c:v>
                </c:pt>
                <c:pt idx="12">
                  <c:v>18</c:v>
                </c:pt>
                <c:pt idx="13">
                  <c:v>13</c:v>
                </c:pt>
                <c:pt idx="14">
                  <c:v>18</c:v>
                </c:pt>
                <c:pt idx="15">
                  <c:v>27</c:v>
                </c:pt>
                <c:pt idx="16">
                  <c:v>38</c:v>
                </c:pt>
                <c:pt idx="17">
                  <c:v>25</c:v>
                </c:pt>
                <c:pt idx="18">
                  <c:v>16</c:v>
                </c:pt>
                <c:pt idx="19">
                  <c:v>16</c:v>
                </c:pt>
                <c:pt idx="20">
                  <c:v>9</c:v>
                </c:pt>
                <c:pt idx="21">
                  <c:v>8</c:v>
                </c:pt>
                <c:pt idx="22">
                  <c:v>18</c:v>
                </c:pt>
                <c:pt idx="23">
                  <c:v>31</c:v>
                </c:pt>
                <c:pt idx="24">
                  <c:v>38</c:v>
                </c:pt>
                <c:pt idx="25">
                  <c:v>49</c:v>
                </c:pt>
                <c:pt idx="26">
                  <c:v>52</c:v>
                </c:pt>
                <c:pt idx="27">
                  <c:v>50</c:v>
                </c:pt>
                <c:pt idx="28">
                  <c:v>51</c:v>
                </c:pt>
                <c:pt idx="29">
                  <c:v>69</c:v>
                </c:pt>
                <c:pt idx="30">
                  <c:v>93</c:v>
                </c:pt>
                <c:pt idx="31">
                  <c:v>94</c:v>
                </c:pt>
                <c:pt idx="32">
                  <c:v>147</c:v>
                </c:pt>
                <c:pt idx="33">
                  <c:v>226</c:v>
                </c:pt>
                <c:pt idx="34">
                  <c:v>179</c:v>
                </c:pt>
                <c:pt idx="35">
                  <c:v>153</c:v>
                </c:pt>
                <c:pt idx="36">
                  <c:v>133</c:v>
                </c:pt>
                <c:pt idx="37">
                  <c:v>127</c:v>
                </c:pt>
                <c:pt idx="38">
                  <c:v>119</c:v>
                </c:pt>
                <c:pt idx="39">
                  <c:v>111</c:v>
                </c:pt>
                <c:pt idx="40">
                  <c:v>118</c:v>
                </c:pt>
                <c:pt idx="41">
                  <c:v>116</c:v>
                </c:pt>
                <c:pt idx="42">
                  <c:v>131</c:v>
                </c:pt>
                <c:pt idx="43">
                  <c:v>152</c:v>
                </c:pt>
                <c:pt idx="44">
                  <c:v>163</c:v>
                </c:pt>
                <c:pt idx="45">
                  <c:v>171</c:v>
                </c:pt>
                <c:pt idx="46">
                  <c:v>198</c:v>
                </c:pt>
                <c:pt idx="47">
                  <c:v>234</c:v>
                </c:pt>
                <c:pt idx="48">
                  <c:v>260</c:v>
                </c:pt>
                <c:pt idx="49">
                  <c:v>271</c:v>
                </c:pt>
                <c:pt idx="50">
                  <c:v>244</c:v>
                </c:pt>
                <c:pt idx="51">
                  <c:v>242</c:v>
                </c:pt>
                <c:pt idx="52">
                  <c:v>210</c:v>
                </c:pt>
                <c:pt idx="53">
                  <c:v>194</c:v>
                </c:pt>
                <c:pt idx="54">
                  <c:v>163</c:v>
                </c:pt>
                <c:pt idx="55">
                  <c:v>194</c:v>
                </c:pt>
                <c:pt idx="56">
                  <c:v>187</c:v>
                </c:pt>
                <c:pt idx="57">
                  <c:v>216</c:v>
                </c:pt>
                <c:pt idx="58">
                  <c:v>225</c:v>
                </c:pt>
                <c:pt idx="59">
                  <c:v>199</c:v>
                </c:pt>
                <c:pt idx="60">
                  <c:v>207</c:v>
                </c:pt>
                <c:pt idx="61">
                  <c:v>227</c:v>
                </c:pt>
                <c:pt idx="62">
                  <c:v>259</c:v>
                </c:pt>
                <c:pt idx="63">
                  <c:v>182</c:v>
                </c:pt>
                <c:pt idx="64">
                  <c:v>185</c:v>
                </c:pt>
                <c:pt idx="65">
                  <c:v>191</c:v>
                </c:pt>
                <c:pt idx="66">
                  <c:v>194</c:v>
                </c:pt>
                <c:pt idx="67">
                  <c:v>194</c:v>
                </c:pt>
                <c:pt idx="68">
                  <c:v>192</c:v>
                </c:pt>
                <c:pt idx="69">
                  <c:v>208</c:v>
                </c:pt>
                <c:pt idx="70">
                  <c:v>224</c:v>
                </c:pt>
                <c:pt idx="71">
                  <c:v>249</c:v>
                </c:pt>
                <c:pt idx="72">
                  <c:v>317</c:v>
                </c:pt>
                <c:pt idx="73">
                  <c:v>328</c:v>
                </c:pt>
                <c:pt idx="74">
                  <c:v>349</c:v>
                </c:pt>
                <c:pt idx="75">
                  <c:v>327</c:v>
                </c:pt>
                <c:pt idx="76">
                  <c:v>348</c:v>
                </c:pt>
                <c:pt idx="77">
                  <c:v>363</c:v>
                </c:pt>
                <c:pt idx="78">
                  <c:v>385</c:v>
                </c:pt>
                <c:pt idx="79">
                  <c:v>393</c:v>
                </c:pt>
                <c:pt idx="80">
                  <c:v>388</c:v>
                </c:pt>
                <c:pt idx="81">
                  <c:v>444</c:v>
                </c:pt>
                <c:pt idx="82">
                  <c:v>334</c:v>
                </c:pt>
                <c:pt idx="83">
                  <c:v>284</c:v>
                </c:pt>
                <c:pt idx="84">
                  <c:v>264</c:v>
                </c:pt>
                <c:pt idx="85">
                  <c:v>221</c:v>
                </c:pt>
                <c:pt idx="86">
                  <c:v>160</c:v>
                </c:pt>
                <c:pt idx="87">
                  <c:v>160</c:v>
                </c:pt>
                <c:pt idx="88">
                  <c:v>92</c:v>
                </c:pt>
                <c:pt idx="89">
                  <c:v>59</c:v>
                </c:pt>
                <c:pt idx="90">
                  <c:v>69</c:v>
                </c:pt>
                <c:pt idx="91">
                  <c:v>48</c:v>
                </c:pt>
                <c:pt idx="92">
                  <c:v>32</c:v>
                </c:pt>
                <c:pt idx="93">
                  <c:v>33</c:v>
                </c:pt>
                <c:pt idx="94">
                  <c:v>45</c:v>
                </c:pt>
                <c:pt idx="95">
                  <c:v>42</c:v>
                </c:pt>
                <c:pt idx="96">
                  <c:v>41</c:v>
                </c:pt>
                <c:pt idx="97">
                  <c:v>110</c:v>
                </c:pt>
                <c:pt idx="98">
                  <c:v>175</c:v>
                </c:pt>
                <c:pt idx="99">
                  <c:v>293</c:v>
                </c:pt>
                <c:pt idx="100">
                  <c:v>324</c:v>
                </c:pt>
                <c:pt idx="101">
                  <c:v>341</c:v>
                </c:pt>
                <c:pt idx="102">
                  <c:v>362</c:v>
                </c:pt>
                <c:pt idx="103">
                  <c:v>372</c:v>
                </c:pt>
                <c:pt idx="104">
                  <c:v>373</c:v>
                </c:pt>
                <c:pt idx="105">
                  <c:v>372</c:v>
                </c:pt>
                <c:pt idx="106">
                  <c:v>318</c:v>
                </c:pt>
                <c:pt idx="107">
                  <c:v>188</c:v>
                </c:pt>
                <c:pt idx="108">
                  <c:v>171</c:v>
                </c:pt>
                <c:pt idx="109">
                  <c:v>136</c:v>
                </c:pt>
                <c:pt idx="110">
                  <c:v>124</c:v>
                </c:pt>
                <c:pt idx="111">
                  <c:v>141</c:v>
                </c:pt>
                <c:pt idx="112">
                  <c:v>132</c:v>
                </c:pt>
                <c:pt idx="113">
                  <c:v>134</c:v>
                </c:pt>
                <c:pt idx="114">
                  <c:v>56</c:v>
                </c:pt>
                <c:pt idx="115">
                  <c:v>48</c:v>
                </c:pt>
                <c:pt idx="116">
                  <c:v>27</c:v>
                </c:pt>
                <c:pt idx="117">
                  <c:v>28</c:v>
                </c:pt>
                <c:pt idx="118">
                  <c:v>20</c:v>
                </c:pt>
                <c:pt idx="119">
                  <c:v>22</c:v>
                </c:pt>
                <c:pt idx="120">
                  <c:v>120</c:v>
                </c:pt>
                <c:pt idx="121">
                  <c:v>109</c:v>
                </c:pt>
                <c:pt idx="122">
                  <c:v>112</c:v>
                </c:pt>
                <c:pt idx="123">
                  <c:v>128</c:v>
                </c:pt>
                <c:pt idx="124">
                  <c:v>164</c:v>
                </c:pt>
                <c:pt idx="125">
                  <c:v>159</c:v>
                </c:pt>
                <c:pt idx="126">
                  <c:v>189</c:v>
                </c:pt>
                <c:pt idx="127">
                  <c:v>97</c:v>
                </c:pt>
                <c:pt idx="128">
                  <c:v>81</c:v>
                </c:pt>
                <c:pt idx="129">
                  <c:v>28</c:v>
                </c:pt>
                <c:pt idx="130">
                  <c:v>25</c:v>
                </c:pt>
                <c:pt idx="131">
                  <c:v>9</c:v>
                </c:pt>
                <c:pt idx="132">
                  <c:v>9</c:v>
                </c:pt>
                <c:pt idx="133">
                  <c:v>13</c:v>
                </c:pt>
                <c:pt idx="134">
                  <c:v>17</c:v>
                </c:pt>
                <c:pt idx="135">
                  <c:v>16</c:v>
                </c:pt>
                <c:pt idx="136">
                  <c:v>25</c:v>
                </c:pt>
                <c:pt idx="137">
                  <c:v>48</c:v>
                </c:pt>
                <c:pt idx="138">
                  <c:v>49</c:v>
                </c:pt>
                <c:pt idx="139">
                  <c:v>73</c:v>
                </c:pt>
                <c:pt idx="140">
                  <c:v>65</c:v>
                </c:pt>
                <c:pt idx="141">
                  <c:v>55</c:v>
                </c:pt>
                <c:pt idx="142">
                  <c:v>60</c:v>
                </c:pt>
                <c:pt idx="143">
                  <c:v>63</c:v>
                </c:pt>
                <c:pt idx="144">
                  <c:v>79</c:v>
                </c:pt>
                <c:pt idx="145">
                  <c:v>35</c:v>
                </c:pt>
                <c:pt idx="146">
                  <c:v>26</c:v>
                </c:pt>
                <c:pt idx="147">
                  <c:v>20</c:v>
                </c:pt>
                <c:pt idx="148">
                  <c:v>8</c:v>
                </c:pt>
                <c:pt idx="149">
                  <c:v>16</c:v>
                </c:pt>
                <c:pt idx="150">
                  <c:v>10</c:v>
                </c:pt>
                <c:pt idx="151">
                  <c:v>11</c:v>
                </c:pt>
                <c:pt idx="152">
                  <c:v>20</c:v>
                </c:pt>
                <c:pt idx="153">
                  <c:v>9</c:v>
                </c:pt>
                <c:pt idx="154">
                  <c:v>8</c:v>
                </c:pt>
                <c:pt idx="155">
                  <c:v>9</c:v>
                </c:pt>
                <c:pt idx="156">
                  <c:v>8</c:v>
                </c:pt>
                <c:pt idx="157">
                  <c:v>8</c:v>
                </c:pt>
                <c:pt idx="158">
                  <c:v>8</c:v>
                </c:pt>
                <c:pt idx="159">
                  <c:v>8</c:v>
                </c:pt>
                <c:pt idx="160">
                  <c:v>7</c:v>
                </c:pt>
                <c:pt idx="161">
                  <c:v>12</c:v>
                </c:pt>
                <c:pt idx="162">
                  <c:v>17</c:v>
                </c:pt>
                <c:pt idx="163">
                  <c:v>11</c:v>
                </c:pt>
                <c:pt idx="164">
                  <c:v>9</c:v>
                </c:pt>
                <c:pt idx="165">
                  <c:v>11</c:v>
                </c:pt>
                <c:pt idx="166">
                  <c:v>8</c:v>
                </c:pt>
                <c:pt idx="167">
                  <c:v>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tickLblSkip val="24"/>
      </c:catAx>
      <c:valAx>
        <c:axId val="2094734552"/>
        <c:scaling>
          <c:orientation val="minMax"/>
          <c:min val="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XGBoost importance by feature group (%)</a:t>
            </a:r>
          </a:p>
        </c:rich>
      </c:tx>
      <c:layout/>
      <c:overlay val="0"/>
    </c:title>
    <c:autoTitleDeleted val="0"/>
    <c:plotArea>
      <c:layout/>
      <c:barChart>
        <c:barDir val="bar"/>
        <c:grouping val="clustered"/>
        <c:varyColors val="0"/>
        <c:ser>
          <c:idx val="0"/>
          <c:order val="0"/>
          <c:tx>
            <c:strRef>
              <c:f>Sheet1!$B$1</c:f>
              <c:strCache>
                <c:ptCount val="1"/>
                <c:pt idx="0">
                  <c:v>Share of importance</c:v>
                </c:pt>
              </c:strCache>
            </c:strRef>
          </c:tx>
          <c:spPr>
            <a:solidFill>
              <a:srgbClr val="3E7C8C"/>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Sheet1!$A$2:$A$8</c:f>
              <c:multiLvlStrCache>
                <c:ptCount val="7"/>
                <c:lvl>
                  <c:pt idx="0">
                    <c:v>Missing flag</c:v>
                  </c:pt>
                  <c:pt idx="1">
                    <c:v>Rolling mean</c:v>
                  </c:pt>
                  <c:pt idx="2">
                    <c:v>Lag</c:v>
                  </c:pt>
                  <c:pt idx="3">
                    <c:v>Weather</c:v>
                  </c:pt>
                  <c:pt idx="4">
                    <c:v>Wind direction</c:v>
                  </c:pt>
                  <c:pt idx="5">
                    <c:v>Calendar</c:v>
                  </c:pt>
                  <c:pt idx="6">
                    <c:v>Current PM2.5</c:v>
                  </c:pt>
                </c:lvl>
              </c:multiLvlStrCache>
            </c:multiLvlStrRef>
          </c:cat>
          <c:val>
            <c:numRef>
              <c:f>Sheet1!$B$2:$B$8</c:f>
              <c:numCache>
                <c:formatCode>General</c:formatCode>
                <c:ptCount val="7"/>
                <c:pt idx="0">
                  <c:v>1.4</c:v>
                </c:pt>
                <c:pt idx="1">
                  <c:v>4.5</c:v>
                </c:pt>
                <c:pt idx="2">
                  <c:v>11.9</c:v>
                </c:pt>
                <c:pt idx="3">
                  <c:v>16.1</c:v>
                </c:pt>
                <c:pt idx="4">
                  <c:v>16.1</c:v>
                </c:pt>
                <c:pt idx="5">
                  <c:v>19.7</c:v>
                </c:pt>
                <c:pt idx="6">
                  <c:v>30.3</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9D3D9"/>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Introduce the team and the goal: forecast PM2.5 in Beijing 6 hours ahead, and test fairly whether machine learning beats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PM2.5 is the most harmful common air pollutant. A forecast a few hours ahead is useful for health warnings. Our question is not only accuracy, but whether a model beats simple rules under a fair, future-only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Earlier work shows three things. First, Liang et al. built our dataset and showed weather and winter heating drive Beijing PM2.5. Second, tree models such as XGBoost work well for hourly PM2.5: Pan found it beat random forest, linear regression and SVR, and Zhai and Chen used it in a stacked ensemble for Beijing. Third, deep models such as LSTM and CNN-LSTM learn temporal patterns, and Huang and Kuo used the same Beijing data. For evaluation, Tashman and Bergmeir recommend rolling-origin, order-preserving tests, which we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Our focus is not a new architecture but a fair, reproducible comparison. Hand-picked lags may miss longer patterns, so we use XGBoost for non-linear interactions and plan an LSTM next. We compare against simple baselines, because a model is only useful if it beats them, and we test with a rolling chronological backtest so no future data leaks into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One reading per hour for 5 years. Only PM2.5 has gaps: 2,067 hours, mostly in 2010 to 2012, and the longest gap is 155 hours. We keep a missing flag, fill gaps only with past values, and never score a model on a filled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Harshita. PM2.5 is highest around midnight (about 113) and lowest mid-afternoon (about 86). It peaks in the winter heating season, February about 126 and October about 120, and is lowest in late spring and summer, about 80. Day of week matters much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Harshita. Northwest wind brings clean mountain air, while calm air traps pollution. PM2.5 changes slowly: correlation is 0.97 with 1 hour earlier, 0.75 with 6 hours and 0.40 with 24 hours, then fades after about 2 days. That is why persistence is a strong baseline, and why we use lags up to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Akhil Mishra. The project is a straight pipeline of small files, so each member owns one step. Everything runs with one command, and the notebooks regenerate every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Harshita. Every feature uses only the current hour and the past, so nothing from the future leaks in. We checked in code that the target is exactly 6 hours ahead and that each lag looks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Satyam. Time series must never be shuffled, so we only ever test on the future. Each fold trains on everything before its test period and tests on the next 6 months, from January 2013 to December 2014. The training window grows from 3 to 4.5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Persistence and seasonal naive are the bar every model must beat. XGBoost builds 300 small trees, each fixing the errors of the trees before it. It needs no feature scaling and handles interactions such as calm air at night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Satyam. Averaged over 4 test periods, XGBoost's MAE is 35.8 against 40.7 for persistence, 12% lower, and R squared rises from 0.52 to 0.65. It wins in every fold, by 8 to 16 percent. Seasonal naive has a negative R squared: yesterday's level is a poor guide 6 hours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Akhil Mishra. This is the last week of the test data. The grey persistence line is the actual line shifted 6 hours. XGBoost follows the shape more closely, but very sudden spikes, like on 28 December, are still underestimated.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Importance comes from the model trained on the most data. Current PM2.5 matters most, which matches the strong persistence we saw in EDA. Calendar, wind and weather add the rest. The hand-picked lags carry only 12%, which points to a sequence model as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Akhil Mishra. Be honest about limits: spikes are hard, our windows are fixed, and the data covers one station. The natural next step is an LSTM that learns its own time windows, plus weather forecasts as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Summarise: a gradient-boosted model beats simple rules by 12% and wins in every test period. Everything is public and reproducible.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8046720" cy="17373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3"/>
                </a:solidFill>
              </a:rPr>
              <a:t>Project 19 · Air Quality Forecasting</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MananGilhotra/air-quality-forecasting" TargetMode="External"/><Relationship Id="rId1" Type="http://schemas.openxmlformats.org/officeDocument/2006/relationships/image" Target="../media/image-16-1.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mog circle"/>
          <p:cNvSpPr/>
          <p:nvPr/>
        </p:nvSpPr>
        <p:spPr>
          <a:xfrm>
            <a:off x="548640" y="548640"/>
            <a:ext cx="731520" cy="731520"/>
          </a:xfrm>
          <a:prstGeom prst="ellipse">
            <a:avLst/>
          </a:prstGeom>
          <a:solidFill>
            <a:srgbClr val="E07A2F"/>
          </a:solidFill>
          <a:ln w="12700">
            <a:solidFill>
              <a:srgbClr val="E07A2F"/>
            </a:solidFill>
            <a:prstDash val="solid"/>
          </a:ln>
        </p:spPr>
      </p:sp>
      <p:pic>
        <p:nvPicPr>
          <p:cNvPr id="3" name="Smog icon" descr="Smog">    </p:cNvPr>
          <p:cNvPicPr>
            <a:picLocks noChangeAspect="1"/>
          </p:cNvPicPr>
          <p:nvPr/>
        </p:nvPicPr>
        <p:blipFill>
          <a:blip r:embed="rId1"/>
          <a:stretch>
            <a:fillRect/>
          </a:stretch>
        </p:blipFill>
        <p:spPr>
          <a:xfrm>
            <a:off x="731520" y="731520"/>
            <a:ext cx="365760" cy="365760"/>
          </a:xfrm>
          <a:prstGeom prst="rect">
            <a:avLst/>
          </a:prstGeom>
        </p:spPr>
      </p:pic>
      <p:sp>
        <p:nvSpPr>
          <p:cNvPr id="4"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Forecasting Beijing PM2.5 Six Hours Ahead</a:t>
            </a:r>
            <a:endParaRPr lang="en-US" sz="4000" dirty="0"/>
          </a:p>
        </p:txBody>
      </p:sp>
      <p:sp>
        <p:nvSpPr>
          <p:cNvPr id="5" name="Text 0"/>
          <p:cNvSpPr/>
          <p:nvPr>
            <p:ph idx="101" type="body" hasCustomPrompt="1"/>
          </p:nvPr>
        </p:nvSpPr>
        <p:spPr>
          <a:xfrm>
            <a:off x="548640" y="2788920"/>
            <a:ext cx="8046720" cy="1737360"/>
          </a:xfrm>
          <a:prstGeom prst="rect">
            <a:avLst/>
          </a:prstGeom>
          <a:noFill/>
          <a:ln/>
        </p:spPr>
        <p:txBody>
          <a:bodyPr wrap="square" lIns="0" tIns="0" rIns="0" bIns="0" rtlCol="0" anchor="t"/>
          <a:lstStyle/>
          <a:p>
            <a:pPr indent="0" marL="0">
              <a:buNone/>
            </a:pPr>
            <a:r>
              <a:rPr lang="en-US" sz="2000" dirty="0">
                <a:solidFill>
                  <a:schemeClr val="bg2"/>
                </a:solidFill>
              </a:rPr>
              <a:t>Gradient boosting with rolling chronological backtests</a:t>
            </a:r>
            <a:endParaRPr lang="en-US" sz="1600" dirty="0"/>
          </a:p>
          <a:p>
            <a:pPr indent="0" marL="0">
              <a:buNone/>
            </a:pPr>
            <a:r>
              <a:rPr lang="en-US" sz="1000" dirty="0">
                <a:solidFill>
                  <a:schemeClr val="bg2"/>
                </a:solidFill>
              </a:rPr>
              <a:t> </a:t>
            </a:r>
            <a:endParaRPr lang="en-US" sz="1600" dirty="0"/>
          </a:p>
          <a:p>
            <a:pPr indent="0" marL="0">
              <a:buNone/>
            </a:pPr>
            <a:r>
              <a:rPr lang="en-US" sz="1600" dirty="0">
                <a:solidFill>
                  <a:schemeClr val="bg2"/>
                </a:solidFill>
              </a:rPr>
              <a:t>Project 19 · Semester 5 Applied Machine Learning</a:t>
            </a:r>
            <a:endParaRPr lang="en-US" sz="1600" dirty="0"/>
          </a:p>
          <a:p>
            <a:pPr indent="0" marL="0">
              <a:buNone/>
            </a:pPr>
            <a:r>
              <a:rPr lang="en-US" sz="1600" dirty="0">
                <a:solidFill>
                  <a:schemeClr val="bg2"/>
                </a:solidFill>
              </a:rPr>
              <a:t>Manan Gilhotra · Harshita · Satyam · Yashi Agarwal · Akhil Mishra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Why forecast PM2.5?</a:t>
            </a:r>
            <a:endParaRPr lang="en-US" sz="3200" dirty="0"/>
          </a:p>
        </p:txBody>
      </p:sp>
      <p:sp>
        <p:nvSpPr>
          <p:cNvPr id="3" name="Serious health risk circle"/>
          <p:cNvSpPr/>
          <p:nvPr/>
        </p:nvSpPr>
        <p:spPr>
          <a:xfrm>
            <a:off x="457200" y="1234440"/>
            <a:ext cx="548640" cy="548640"/>
          </a:xfrm>
          <a:prstGeom prst="ellipse">
            <a:avLst/>
          </a:prstGeom>
          <a:solidFill>
            <a:srgbClr val="16384A"/>
          </a:solidFill>
          <a:ln w="12700">
            <a:solidFill>
              <a:srgbClr val="16384A"/>
            </a:solidFill>
            <a:prstDash val="solid"/>
          </a:ln>
        </p:spPr>
      </p:sp>
      <p:pic>
        <p:nvPicPr>
          <p:cNvPr id="4" name="Serious health risk icon" descr="Serious health risk">    </p:cNvPr>
          <p:cNvPicPr>
            <a:picLocks noChangeAspect="1"/>
          </p:cNvPicPr>
          <p:nvPr/>
        </p:nvPicPr>
        <p:blipFill>
          <a:blip r:embed="rId1"/>
          <a:stretch>
            <a:fillRect/>
          </a:stretch>
        </p:blipFill>
        <p:spPr>
          <a:xfrm>
            <a:off x="594360" y="1371600"/>
            <a:ext cx="274320" cy="274320"/>
          </a:xfrm>
          <a:prstGeom prst="rect">
            <a:avLst/>
          </a:prstGeom>
        </p:spPr>
      </p:pic>
      <p:sp>
        <p:nvSpPr>
          <p:cNvPr id="5" name="Text 2"/>
          <p:cNvSpPr txBox="1"/>
          <p:nvPr/>
        </p:nvSpPr>
        <p:spPr>
          <a:xfrm>
            <a:off x="1188720" y="1216152"/>
            <a:ext cx="3291840" cy="292608"/>
          </a:xfrm>
          <a:prstGeom prst="rect">
            <a:avLst/>
          </a:prstGeom>
          <a:noFill/>
          <a:ln/>
        </p:spPr>
        <p:txBody>
          <a:bodyPr wrap="square" lIns="0" tIns="0" rIns="0" bIns="0" rtlCol="0" anchor="ctr"/>
          <a:lstStyle/>
          <a:p>
            <a:pPr indent="0" marL="0">
              <a:buNone/>
            </a:pPr>
            <a:r>
              <a:rPr lang="en-US" sz="1600" b="1" dirty="0">
                <a:solidFill>
                  <a:schemeClr val="tx2"/>
                </a:solidFill>
              </a:rPr>
              <a:t>Serious health risk</a:t>
            </a:r>
            <a:endParaRPr lang="en-US" sz="1600" dirty="0"/>
          </a:p>
        </p:txBody>
      </p:sp>
      <p:sp>
        <p:nvSpPr>
          <p:cNvPr id="6" name="Text 3"/>
          <p:cNvSpPr txBox="1"/>
          <p:nvPr/>
        </p:nvSpPr>
        <p:spPr>
          <a:xfrm>
            <a:off x="1188720" y="1527048"/>
            <a:ext cx="3291840" cy="548640"/>
          </a:xfrm>
          <a:prstGeom prst="rect">
            <a:avLst/>
          </a:prstGeom>
          <a:noFill/>
          <a:ln/>
        </p:spPr>
        <p:txBody>
          <a:bodyPr wrap="square" lIns="0" tIns="0" rIns="0" bIns="0" rtlCol="0" anchor="t"/>
          <a:lstStyle/>
          <a:p>
            <a:pPr indent="0" marL="0">
              <a:buNone/>
            </a:pPr>
            <a:r>
              <a:rPr lang="en-US" sz="1300" dirty="0">
                <a:solidFill>
                  <a:schemeClr val="tx1"/>
                </a:solidFill>
              </a:rPr>
              <a:t>Fine particles reach deep into the lungs and are linked to heart and lung disease.</a:t>
            </a:r>
            <a:endParaRPr lang="en-US" sz="1300" dirty="0"/>
          </a:p>
        </p:txBody>
      </p:sp>
      <p:sp>
        <p:nvSpPr>
          <p:cNvPr id="7" name="Act before the peak circle"/>
          <p:cNvSpPr/>
          <p:nvPr/>
        </p:nvSpPr>
        <p:spPr>
          <a:xfrm>
            <a:off x="457200" y="2331720"/>
            <a:ext cx="548640" cy="548640"/>
          </a:xfrm>
          <a:prstGeom prst="ellipse">
            <a:avLst/>
          </a:prstGeom>
          <a:solidFill>
            <a:srgbClr val="16384A"/>
          </a:solidFill>
          <a:ln w="12700">
            <a:solidFill>
              <a:srgbClr val="16384A"/>
            </a:solidFill>
            <a:prstDash val="solid"/>
          </a:ln>
        </p:spPr>
      </p:sp>
      <p:pic>
        <p:nvPicPr>
          <p:cNvPr id="8" name="Act before the peak icon" descr="Act before the peak">    </p:cNvPr>
          <p:cNvPicPr>
            <a:picLocks noChangeAspect="1"/>
          </p:cNvPicPr>
          <p:nvPr/>
        </p:nvPicPr>
        <p:blipFill>
          <a:blip r:embed="rId2"/>
          <a:stretch>
            <a:fillRect/>
          </a:stretch>
        </p:blipFill>
        <p:spPr>
          <a:xfrm>
            <a:off x="594360" y="2468880"/>
            <a:ext cx="274320" cy="274320"/>
          </a:xfrm>
          <a:prstGeom prst="rect">
            <a:avLst/>
          </a:prstGeom>
        </p:spPr>
      </p:pic>
      <p:sp>
        <p:nvSpPr>
          <p:cNvPr id="9" name="Text 5"/>
          <p:cNvSpPr txBox="1"/>
          <p:nvPr/>
        </p:nvSpPr>
        <p:spPr>
          <a:xfrm>
            <a:off x="1188720" y="2313432"/>
            <a:ext cx="3291840" cy="292608"/>
          </a:xfrm>
          <a:prstGeom prst="rect">
            <a:avLst/>
          </a:prstGeom>
          <a:noFill/>
          <a:ln/>
        </p:spPr>
        <p:txBody>
          <a:bodyPr wrap="square" lIns="0" tIns="0" rIns="0" bIns="0" rtlCol="0" anchor="ctr"/>
          <a:lstStyle/>
          <a:p>
            <a:pPr indent="0" marL="0">
              <a:buNone/>
            </a:pPr>
            <a:r>
              <a:rPr lang="en-US" sz="1600" b="1" dirty="0">
                <a:solidFill>
                  <a:schemeClr val="tx2"/>
                </a:solidFill>
              </a:rPr>
              <a:t>Act before the peak</a:t>
            </a:r>
            <a:endParaRPr lang="en-US" sz="1600" dirty="0"/>
          </a:p>
        </p:txBody>
      </p:sp>
      <p:sp>
        <p:nvSpPr>
          <p:cNvPr id="10" name="Text 6"/>
          <p:cNvSpPr txBox="1"/>
          <p:nvPr/>
        </p:nvSpPr>
        <p:spPr>
          <a:xfrm>
            <a:off x="1188720" y="2624328"/>
            <a:ext cx="3291840" cy="548640"/>
          </a:xfrm>
          <a:prstGeom prst="rect">
            <a:avLst/>
          </a:prstGeom>
          <a:noFill/>
          <a:ln/>
        </p:spPr>
        <p:txBody>
          <a:bodyPr wrap="square" lIns="0" tIns="0" rIns="0" bIns="0" rtlCol="0" anchor="t"/>
          <a:lstStyle/>
          <a:p>
            <a:pPr indent="0" marL="0">
              <a:buNone/>
            </a:pPr>
            <a:r>
              <a:rPr lang="en-US" sz="1300" dirty="0">
                <a:solidFill>
                  <a:schemeClr val="tx1"/>
                </a:solidFill>
              </a:rPr>
              <a:t>A 6-hour warning lets people limit outdoor activity and lets cities respond.</a:t>
            </a:r>
            <a:endParaRPr lang="en-US" sz="1300" dirty="0"/>
          </a:p>
        </p:txBody>
      </p:sp>
      <p:sp>
        <p:nvSpPr>
          <p:cNvPr id="11" name="Test ML fairly circle"/>
          <p:cNvSpPr/>
          <p:nvPr/>
        </p:nvSpPr>
        <p:spPr>
          <a:xfrm>
            <a:off x="457200" y="3429000"/>
            <a:ext cx="548640" cy="548640"/>
          </a:xfrm>
          <a:prstGeom prst="ellipse">
            <a:avLst/>
          </a:prstGeom>
          <a:solidFill>
            <a:srgbClr val="16384A"/>
          </a:solidFill>
          <a:ln w="12700">
            <a:solidFill>
              <a:srgbClr val="16384A"/>
            </a:solidFill>
            <a:prstDash val="solid"/>
          </a:ln>
        </p:spPr>
      </p:sp>
      <p:pic>
        <p:nvPicPr>
          <p:cNvPr id="12" name="Test ML fairly icon" descr="Test ML fairly">    </p:cNvPr>
          <p:cNvPicPr>
            <a:picLocks noChangeAspect="1"/>
          </p:cNvPicPr>
          <p:nvPr/>
        </p:nvPicPr>
        <p:blipFill>
          <a:blip r:embed="rId3"/>
          <a:stretch>
            <a:fillRect/>
          </a:stretch>
        </p:blipFill>
        <p:spPr>
          <a:xfrm>
            <a:off x="594360" y="3566160"/>
            <a:ext cx="274320" cy="274320"/>
          </a:xfrm>
          <a:prstGeom prst="rect">
            <a:avLst/>
          </a:prstGeom>
        </p:spPr>
      </p:pic>
      <p:sp>
        <p:nvSpPr>
          <p:cNvPr id="13" name="Text 8"/>
          <p:cNvSpPr txBox="1"/>
          <p:nvPr/>
        </p:nvSpPr>
        <p:spPr>
          <a:xfrm>
            <a:off x="1188720" y="3410712"/>
            <a:ext cx="3291840" cy="292608"/>
          </a:xfrm>
          <a:prstGeom prst="rect">
            <a:avLst/>
          </a:prstGeom>
          <a:noFill/>
          <a:ln/>
        </p:spPr>
        <p:txBody>
          <a:bodyPr wrap="square" lIns="0" tIns="0" rIns="0" bIns="0" rtlCol="0" anchor="ctr"/>
          <a:lstStyle/>
          <a:p>
            <a:pPr indent="0" marL="0">
              <a:buNone/>
            </a:pPr>
            <a:r>
              <a:rPr lang="en-US" sz="1600" b="1" dirty="0">
                <a:solidFill>
                  <a:schemeClr val="tx2"/>
                </a:solidFill>
              </a:rPr>
              <a:t>Test ML fairly</a:t>
            </a:r>
            <a:endParaRPr lang="en-US" sz="1600" dirty="0"/>
          </a:p>
        </p:txBody>
      </p:sp>
      <p:sp>
        <p:nvSpPr>
          <p:cNvPr id="14" name="Text 9"/>
          <p:cNvSpPr txBox="1"/>
          <p:nvPr/>
        </p:nvSpPr>
        <p:spPr>
          <a:xfrm>
            <a:off x="1188720" y="3721608"/>
            <a:ext cx="3291840" cy="548640"/>
          </a:xfrm>
          <a:prstGeom prst="rect">
            <a:avLst/>
          </a:prstGeom>
          <a:noFill/>
          <a:ln/>
        </p:spPr>
        <p:txBody>
          <a:bodyPr wrap="square" lIns="0" tIns="0" rIns="0" bIns="0" rtlCol="0" anchor="t"/>
          <a:lstStyle/>
          <a:p>
            <a:pPr indent="0" marL="0">
              <a:buNone/>
            </a:pPr>
            <a:r>
              <a:rPr lang="en-US" sz="1300" dirty="0">
                <a:solidFill>
                  <a:schemeClr val="tx1"/>
                </a:solidFill>
              </a:rPr>
              <a:t>Does a model beat simple rules when tested only on the future?</a:t>
            </a:r>
            <a:endParaRPr lang="en-US" sz="1300" dirty="0"/>
          </a:p>
        </p:txBody>
      </p:sp>
      <p:sp>
        <p:nvSpPr>
          <p:cNvPr id="15" name="Setup card"/>
          <p:cNvSpPr/>
          <p:nvPr/>
        </p:nvSpPr>
        <p:spPr>
          <a:xfrm>
            <a:off x="4846320" y="1188720"/>
            <a:ext cx="3840480" cy="3383280"/>
          </a:xfrm>
          <a:prstGeom prst="roundRect">
            <a:avLst>
              <a:gd name="adj" fmla="val 2162"/>
            </a:avLst>
          </a:prstGeom>
          <a:solidFill>
            <a:schemeClr val="bg2"/>
          </a:solidFill>
          <a:ln w="12700">
            <a:solidFill>
              <a:schemeClr val="bg2"/>
            </a:solidFill>
            <a:prstDash val="solid"/>
          </a:ln>
        </p:spPr>
      </p:sp>
      <p:sp>
        <p:nvSpPr>
          <p:cNvPr id="16" name="Text 11"/>
          <p:cNvSpPr txBox="1"/>
          <p:nvPr/>
        </p:nvSpPr>
        <p:spPr>
          <a:xfrm>
            <a:off x="5074920" y="1325880"/>
            <a:ext cx="3383280" cy="320040"/>
          </a:xfrm>
          <a:prstGeom prst="rect">
            <a:avLst/>
          </a:prstGeom>
          <a:noFill/>
          <a:ln/>
        </p:spPr>
        <p:txBody>
          <a:bodyPr wrap="square" lIns="0" tIns="0" rIns="0" bIns="0" rtlCol="0" anchor="ctr"/>
          <a:lstStyle/>
          <a:p>
            <a:pPr indent="0" marL="0">
              <a:buNone/>
            </a:pPr>
            <a:r>
              <a:rPr lang="en-US" sz="1600" b="1" dirty="0">
                <a:solidFill>
                  <a:schemeClr val="tx2"/>
                </a:solidFill>
              </a:rPr>
              <a:t>Our setup</a:t>
            </a:r>
            <a:endParaRPr lang="en-US" sz="1600" dirty="0"/>
          </a:p>
        </p:txBody>
      </p:sp>
      <p:sp>
        <p:nvSpPr>
          <p:cNvPr id="17" name="Text 12"/>
          <p:cNvSpPr txBox="1"/>
          <p:nvPr/>
        </p:nvSpPr>
        <p:spPr>
          <a:xfrm>
            <a:off x="5074920" y="1783080"/>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Target</a:t>
            </a:r>
            <a:endParaRPr lang="en-US" sz="1300" dirty="0"/>
          </a:p>
        </p:txBody>
      </p:sp>
      <p:sp>
        <p:nvSpPr>
          <p:cNvPr id="18" name="Text 13"/>
          <p:cNvSpPr txBox="1"/>
          <p:nvPr/>
        </p:nvSpPr>
        <p:spPr>
          <a:xfrm>
            <a:off x="6217920" y="178308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PM2.5 (µg/m³)</a:t>
            </a:r>
            <a:endParaRPr lang="en-US" sz="1400" dirty="0"/>
          </a:p>
        </p:txBody>
      </p:sp>
      <p:sp>
        <p:nvSpPr>
          <p:cNvPr id="19" name="Text 14"/>
          <p:cNvSpPr txBox="1"/>
          <p:nvPr/>
        </p:nvSpPr>
        <p:spPr>
          <a:xfrm>
            <a:off x="5074920" y="2167128"/>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Horizon</a:t>
            </a:r>
            <a:endParaRPr lang="en-US" sz="1300" dirty="0"/>
          </a:p>
        </p:txBody>
      </p:sp>
      <p:sp>
        <p:nvSpPr>
          <p:cNvPr id="20" name="Text 15"/>
          <p:cNvSpPr txBox="1"/>
          <p:nvPr/>
        </p:nvSpPr>
        <p:spPr>
          <a:xfrm>
            <a:off x="6217920" y="2167128"/>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6 hours ahead</a:t>
            </a:r>
            <a:endParaRPr lang="en-US" sz="1400" dirty="0"/>
          </a:p>
        </p:txBody>
      </p:sp>
      <p:sp>
        <p:nvSpPr>
          <p:cNvPr id="21" name="Text 16"/>
          <p:cNvSpPr txBox="1"/>
          <p:nvPr/>
        </p:nvSpPr>
        <p:spPr>
          <a:xfrm>
            <a:off x="5074920" y="2551176"/>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Main model</a:t>
            </a:r>
            <a:endParaRPr lang="en-US" sz="1300" dirty="0"/>
          </a:p>
        </p:txBody>
      </p:sp>
      <p:sp>
        <p:nvSpPr>
          <p:cNvPr id="22" name="Text 17"/>
          <p:cNvSpPr txBox="1"/>
          <p:nvPr/>
        </p:nvSpPr>
        <p:spPr>
          <a:xfrm>
            <a:off x="6217920" y="2551176"/>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XGBoost</a:t>
            </a:r>
            <a:endParaRPr lang="en-US" sz="1400" dirty="0"/>
          </a:p>
        </p:txBody>
      </p:sp>
      <p:sp>
        <p:nvSpPr>
          <p:cNvPr id="23" name="Text 18"/>
          <p:cNvSpPr txBox="1"/>
          <p:nvPr/>
        </p:nvSpPr>
        <p:spPr>
          <a:xfrm>
            <a:off x="5074920" y="2935224"/>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Baselines</a:t>
            </a:r>
            <a:endParaRPr lang="en-US" sz="1300" dirty="0"/>
          </a:p>
        </p:txBody>
      </p:sp>
      <p:sp>
        <p:nvSpPr>
          <p:cNvPr id="24" name="Text 19"/>
          <p:cNvSpPr txBox="1"/>
          <p:nvPr/>
        </p:nvSpPr>
        <p:spPr>
          <a:xfrm>
            <a:off x="6217920" y="2935224"/>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Persistence, seasonal naive</a:t>
            </a:r>
            <a:endParaRPr lang="en-US" sz="1400" dirty="0"/>
          </a:p>
        </p:txBody>
      </p:sp>
      <p:sp>
        <p:nvSpPr>
          <p:cNvPr id="25" name="Text 20"/>
          <p:cNvSpPr txBox="1"/>
          <p:nvPr/>
        </p:nvSpPr>
        <p:spPr>
          <a:xfrm>
            <a:off x="5074920" y="3319272"/>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Evaluation</a:t>
            </a:r>
            <a:endParaRPr lang="en-US" sz="1300" dirty="0"/>
          </a:p>
        </p:txBody>
      </p:sp>
      <p:sp>
        <p:nvSpPr>
          <p:cNvPr id="26" name="Text 21"/>
          <p:cNvSpPr txBox="1"/>
          <p:nvPr/>
        </p:nvSpPr>
        <p:spPr>
          <a:xfrm>
            <a:off x="6217920" y="3319272"/>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Rolling backtest, 4 folds</a:t>
            </a:r>
            <a:endParaRPr lang="en-US" sz="1400" dirty="0"/>
          </a:p>
        </p:txBody>
      </p:sp>
      <p:sp>
        <p:nvSpPr>
          <p:cNvPr id="27" name="Text 22"/>
          <p:cNvSpPr txBox="1"/>
          <p:nvPr/>
        </p:nvSpPr>
        <p:spPr>
          <a:xfrm>
            <a:off x="5074920" y="3703320"/>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Metrics</a:t>
            </a:r>
            <a:endParaRPr lang="en-US" sz="1300" dirty="0"/>
          </a:p>
        </p:txBody>
      </p:sp>
      <p:sp>
        <p:nvSpPr>
          <p:cNvPr id="28" name="Text 23"/>
          <p:cNvSpPr txBox="1"/>
          <p:nvPr/>
        </p:nvSpPr>
        <p:spPr>
          <a:xfrm>
            <a:off x="6217920" y="370332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MAE, RMSE, R²</a:t>
            </a:r>
            <a:endParaRPr lang="en-US" sz="1400" dirty="0"/>
          </a:p>
        </p:txBody>
      </p:sp>
      <p:sp>
        <p:nvSpPr>
          <p:cNvPr id="29" name="Text 24"/>
          <p:cNvSpPr txBox="1"/>
          <p:nvPr/>
        </p:nvSpPr>
        <p:spPr>
          <a:xfrm>
            <a:off x="5074920" y="4087368"/>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AQI standard</a:t>
            </a:r>
            <a:endParaRPr lang="en-US" sz="1300" dirty="0"/>
          </a:p>
        </p:txBody>
      </p:sp>
      <p:sp>
        <p:nvSpPr>
          <p:cNvPr id="30" name="Text 25"/>
          <p:cNvSpPr txBox="1"/>
          <p:nvPr/>
        </p:nvSpPr>
        <p:spPr>
          <a:xfrm>
            <a:off x="6217920" y="4087368"/>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US EPA (2024)</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Literature review</a:t>
            </a:r>
            <a:endParaRPr lang="en-US" sz="3200" dirty="0"/>
          </a:p>
        </p:txBody>
      </p:sp>
      <p:graphicFrame>
        <p:nvGraphicFramePr>
          <p:cNvPr id="4" name="Literature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2651760"/>
                <a:gridCol w="3291840"/>
              </a:tblGrid>
              <a:tr h="402336">
                <a:tc>
                  <a:txBody>
                    <a:bodyPr/>
                    <a:lstStyle/>
                    <a:p>
                      <a:pPr indent="0" marL="0">
                        <a:buNone/>
                      </a:pPr>
                      <a:r>
                        <a:rPr lang="en-US" sz="1200" b="1" dirty="0">
                          <a:solidFill>
                            <a:schemeClr val="bg1"/>
                          </a:solidFill>
                        </a:rPr>
                        <a:t>Study</a:t>
                      </a:r>
                      <a:endParaRPr lang="en-US" sz="12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Approach</a:t>
                      </a:r>
                      <a:endParaRPr lang="en-US" sz="12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Key finding for us</a:t>
                      </a:r>
                      <a:endParaRPr lang="en-US" sz="12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tx2"/>
                    </a:solidFill>
                  </a:tcPr>
                </a:tc>
              </a:tr>
              <a:tr h="402336">
                <a:tc>
                  <a:txBody>
                    <a:bodyPr/>
                    <a:lstStyle/>
                    <a:p>
                      <a:pPr indent="0" marL="0">
                        <a:buNone/>
                      </a:pPr>
                      <a:r>
                        <a:rPr lang="en-US" sz="1100" b="1" dirty="0">
                          <a:solidFill>
                            <a:schemeClr val="tx1"/>
                          </a:solidFill>
                        </a:rPr>
                        <a:t>Liang et al. (2015)</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Statistical study, Beijing 2010–2015</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Weather and winter heating drive PM2.5; source of our dataset</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Rybarczyk &amp; Zalakeviciute (2018)</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Review of 46 air quality studies</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ML handles non-linear pollution better than deterministic models</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02336">
                <a:tc>
                  <a:txBody>
                    <a:bodyPr/>
                    <a:lstStyle/>
                    <a:p>
                      <a:pPr indent="0" marL="0">
                        <a:buNone/>
                      </a:pPr>
                      <a:r>
                        <a:rPr lang="en-US" sz="1100" b="1" dirty="0">
                          <a:solidFill>
                            <a:schemeClr val="tx1"/>
                          </a:solidFill>
                        </a:rPr>
                        <a:t>Pan (2018)</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XGBoost, hourly PM2.5, Tianjin</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XGBoost beat RF, linear regression, decision tree and SVR</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Zhai &amp; Chen (2018)</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Stacked ensemble with XGBoost, Beijing</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EDA-driven features with tree models work well</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02336">
                <a:tc>
                  <a:txBody>
                    <a:bodyPr/>
                    <a:lstStyle/>
                    <a:p>
                      <a:pPr indent="0" marL="0">
                        <a:buNone/>
                      </a:pPr>
                      <a:r>
                        <a:rPr lang="en-US" sz="1100" b="1" dirty="0">
                          <a:solidFill>
                            <a:schemeClr val="tx1"/>
                          </a:solidFill>
                        </a:rPr>
                        <a:t>Li et al. (2017)</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LSTM with spatiotemporal data</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Sequence models learn temporal patterns</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Huang &amp; Kuo (2018)</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CNN-LSTM on the same Beijing data</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Deep learning reference on our dataset</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1"/>
                    </a:solidFill>
                  </a:tcPr>
                </a:tc>
              </a:tr>
              <a:tr h="402336">
                <a:tc>
                  <a:txBody>
                    <a:bodyPr/>
                    <a:lstStyle/>
                    <a:p>
                      <a:pPr indent="0" marL="0">
                        <a:buNone/>
                      </a:pPr>
                      <a:r>
                        <a:rPr lang="en-US" sz="1100" b="1" dirty="0">
                          <a:solidFill>
                            <a:schemeClr val="tx1"/>
                          </a:solidFill>
                        </a:rPr>
                        <a:t>Tashman (2000); Bergmeir &amp; Benítez (2012)</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Forecast evaluation methods</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Test with rolling-origin, order-preserving splits</a:t>
                      </a:r>
                      <a:endParaRPr lang="en-US" sz="1100" dirty="0"/>
                    </a:p>
                  </a:txBody>
                  <a:tcPr marL="73152" marR="73152" marT="27432" marB="2743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4434840"/>
            <a:ext cx="8229600" cy="228600"/>
          </a:xfrm>
          <a:prstGeom prst="rect">
            <a:avLst/>
          </a:prstGeom>
          <a:noFill/>
          <a:ln/>
        </p:spPr>
        <p:txBody>
          <a:bodyPr wrap="square" lIns="0" tIns="0" rIns="0" bIns="0" rtlCol="0" anchor="ctr"/>
          <a:lstStyle/>
          <a:p>
            <a:pPr indent="0" marL="0">
              <a:buNone/>
            </a:pPr>
            <a:r>
              <a:rPr lang="en-US" sz="1000" dirty="0">
                <a:solidFill>
                  <a:schemeClr val="accent3"/>
                </a:solidFill>
              </a:rPr>
              <a:t>Full references in IEEE format are in the project report.</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Research gap and our approach</a:t>
            </a:r>
            <a:endParaRPr lang="en-US" sz="3200" dirty="0"/>
          </a:p>
        </p:txBody>
      </p:sp>
      <p:sp>
        <p:nvSpPr>
          <p:cNvPr id="3" name="Gap card"/>
          <p:cNvSpPr/>
          <p:nvPr/>
        </p:nvSpPr>
        <p:spPr>
          <a:xfrm>
            <a:off x="457200" y="1188720"/>
            <a:ext cx="3977640" cy="2834640"/>
          </a:xfrm>
          <a:prstGeom prst="roundRect">
            <a:avLst>
              <a:gd name="adj" fmla="val 2581"/>
            </a:avLst>
          </a:prstGeom>
          <a:solidFill>
            <a:schemeClr val="bg2"/>
          </a:solidFill>
          <a:ln w="12700">
            <a:solidFill>
              <a:schemeClr val="bg2"/>
            </a:solidFill>
            <a:prstDash val="solid"/>
          </a:ln>
        </p:spPr>
      </p:sp>
      <p:sp>
        <p:nvSpPr>
          <p:cNvPr id="4" name="Gap circle"/>
          <p:cNvSpPr/>
          <p:nvPr/>
        </p:nvSpPr>
        <p:spPr>
          <a:xfrm>
            <a:off x="685800" y="1371600"/>
            <a:ext cx="457200" cy="457200"/>
          </a:xfrm>
          <a:prstGeom prst="ellipse">
            <a:avLst/>
          </a:prstGeom>
          <a:solidFill>
            <a:srgbClr val="B23A48"/>
          </a:solidFill>
          <a:ln w="12700">
            <a:solidFill>
              <a:srgbClr val="B23A48"/>
            </a:solidFill>
            <a:prstDash val="solid"/>
          </a:ln>
        </p:spPr>
      </p:sp>
      <p:pic>
        <p:nvPicPr>
          <p:cNvPr id="5" name="Gap icon" descr="Gap">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280160" y="14173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What we noticed</a:t>
            </a:r>
            <a:endParaRPr lang="en-US" sz="1800" dirty="0"/>
          </a:p>
        </p:txBody>
      </p:sp>
      <p:sp>
        <p:nvSpPr>
          <p:cNvPr id="7" name="Text 4"/>
          <p:cNvSpPr txBox="1"/>
          <p:nvPr/>
        </p:nvSpPr>
        <p:spPr>
          <a:xfrm>
            <a:off x="685800" y="196596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Hand-picked lag windows may miss longer patterns and pollution–weather interactions</a:t>
            </a:r>
            <a:endParaRPr lang="en-US" sz="1400" dirty="0"/>
          </a:p>
          <a:p>
            <a:pPr marL="342900" indent="-342900">
              <a:spcAft>
                <a:spcPts val="800"/>
              </a:spcAft>
              <a:buSzPct val="100000"/>
              <a:buChar char="•"/>
            </a:pPr>
            <a:r>
              <a:rPr lang="en-US" sz="1400" dirty="0">
                <a:solidFill>
                  <a:schemeClr val="tx1"/>
                </a:solidFill>
              </a:rPr>
              <a:t>A model is only useful if it beats simple rules such as persistence</a:t>
            </a:r>
            <a:endParaRPr lang="en-US" sz="1400" dirty="0"/>
          </a:p>
          <a:p>
            <a:pPr marL="342900" indent="-342900">
              <a:spcAft>
                <a:spcPts val="800"/>
              </a:spcAft>
              <a:buSzPct val="100000"/>
              <a:buChar char="•"/>
            </a:pPr>
            <a:r>
              <a:rPr lang="en-US" sz="1400" dirty="0">
                <a:solidFill>
                  <a:schemeClr val="tx1"/>
                </a:solidFill>
              </a:rPr>
              <a:t>Random splits leak the future into training</a:t>
            </a:r>
            <a:endParaRPr lang="en-US" sz="1400" dirty="0"/>
          </a:p>
        </p:txBody>
      </p:sp>
      <p:sp>
        <p:nvSpPr>
          <p:cNvPr id="8" name="Approach card"/>
          <p:cNvSpPr/>
          <p:nvPr/>
        </p:nvSpPr>
        <p:spPr>
          <a:xfrm>
            <a:off x="4709160" y="1188720"/>
            <a:ext cx="3977640" cy="2834640"/>
          </a:xfrm>
          <a:prstGeom prst="roundRect">
            <a:avLst>
              <a:gd name="adj" fmla="val 2581"/>
            </a:avLst>
          </a:prstGeom>
          <a:solidFill>
            <a:schemeClr val="tx2"/>
          </a:solidFill>
          <a:ln w="12700">
            <a:solidFill>
              <a:schemeClr val="tx2"/>
            </a:solidFill>
            <a:prstDash val="solid"/>
          </a:ln>
        </p:spPr>
      </p:sp>
      <p:sp>
        <p:nvSpPr>
          <p:cNvPr id="9" name="Approach circle"/>
          <p:cNvSpPr/>
          <p:nvPr/>
        </p:nvSpPr>
        <p:spPr>
          <a:xfrm>
            <a:off x="4937760" y="1371600"/>
            <a:ext cx="457200" cy="457200"/>
          </a:xfrm>
          <a:prstGeom prst="ellipse">
            <a:avLst/>
          </a:prstGeom>
          <a:solidFill>
            <a:srgbClr val="E07A2F"/>
          </a:solidFill>
          <a:ln w="12700">
            <a:solidFill>
              <a:srgbClr val="E07A2F"/>
            </a:solidFill>
            <a:prstDash val="solid"/>
          </a:ln>
        </p:spPr>
      </p:sp>
      <p:pic>
        <p:nvPicPr>
          <p:cNvPr id="10" name="Approach icon" descr="Approach">    </p:cNvPr>
          <p:cNvPicPr>
            <a:picLocks noChangeAspect="1"/>
          </p:cNvPicPr>
          <p:nvPr/>
        </p:nvPicPr>
        <p:blipFill>
          <a:blip r:embed="rId2"/>
          <a:stretch>
            <a:fillRect/>
          </a:stretch>
        </p:blipFill>
        <p:spPr>
          <a:xfrm>
            <a:off x="5052060" y="1485900"/>
            <a:ext cx="228600" cy="228600"/>
          </a:xfrm>
          <a:prstGeom prst="rect">
            <a:avLst/>
          </a:prstGeom>
        </p:spPr>
      </p:pic>
      <p:sp>
        <p:nvSpPr>
          <p:cNvPr id="11" name="Text 7"/>
          <p:cNvSpPr txBox="1"/>
          <p:nvPr/>
        </p:nvSpPr>
        <p:spPr>
          <a:xfrm>
            <a:off x="5532120" y="1417320"/>
            <a:ext cx="3017520" cy="365760"/>
          </a:xfrm>
          <a:prstGeom prst="rect">
            <a:avLst/>
          </a:prstGeom>
          <a:noFill/>
          <a:ln/>
        </p:spPr>
        <p:txBody>
          <a:bodyPr wrap="square" lIns="0" tIns="0" rIns="0" bIns="0" rtlCol="0" anchor="ctr"/>
          <a:lstStyle/>
          <a:p>
            <a:pPr indent="0" marL="0">
              <a:buNone/>
            </a:pPr>
            <a:r>
              <a:rPr lang="en-US" sz="1800" b="1" dirty="0">
                <a:solidFill>
                  <a:schemeClr val="bg1"/>
                </a:solidFill>
              </a:rPr>
              <a:t>Our approach</a:t>
            </a:r>
            <a:endParaRPr lang="en-US" sz="1800" dirty="0"/>
          </a:p>
        </p:txBody>
      </p:sp>
      <p:sp>
        <p:nvSpPr>
          <p:cNvPr id="12" name="Text 8"/>
          <p:cNvSpPr txBox="1"/>
          <p:nvPr/>
        </p:nvSpPr>
        <p:spPr>
          <a:xfrm>
            <a:off x="4937760" y="196596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XGBoost captures non-linear interactions</a:t>
            </a:r>
            <a:endParaRPr lang="en-US" sz="1400" dirty="0"/>
          </a:p>
          <a:p>
            <a:pPr marL="342900" indent="-342900">
              <a:spcAft>
                <a:spcPts val="800"/>
              </a:spcAft>
              <a:buSzPct val="100000"/>
              <a:buChar char="•"/>
            </a:pPr>
            <a:r>
              <a:rPr lang="en-US" sz="1400" dirty="0">
                <a:solidFill>
                  <a:schemeClr val="bg1"/>
                </a:solidFill>
              </a:rPr>
              <a:t>Compared against persistence and seasonal naive baselines</a:t>
            </a:r>
            <a:endParaRPr lang="en-US" sz="1400" dirty="0"/>
          </a:p>
          <a:p>
            <a:pPr marL="342900" indent="-342900">
              <a:spcAft>
                <a:spcPts val="800"/>
              </a:spcAft>
              <a:buSzPct val="100000"/>
              <a:buChar char="•"/>
            </a:pPr>
            <a:r>
              <a:rPr lang="en-US" sz="1400" dirty="0">
                <a:solidFill>
                  <a:schemeClr val="bg1"/>
                </a:solidFill>
              </a:rPr>
              <a:t>Rolling chronological backtest with a leakage guard</a:t>
            </a:r>
            <a:endParaRPr lang="en-US" sz="1400" dirty="0"/>
          </a:p>
          <a:p>
            <a:pPr marL="342900" indent="-342900">
              <a:spcAft>
                <a:spcPts val="800"/>
              </a:spcAft>
              <a:buSzPct val="100000"/>
              <a:buChar char="•"/>
            </a:pPr>
            <a:r>
              <a:rPr lang="en-US" sz="1400" dirty="0">
                <a:solidFill>
                  <a:schemeClr val="bg1"/>
                </a:solidFill>
              </a:rPr>
              <a:t>Stated AQI standard (US EPA 2024); LSTM as the next step</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The dataset</a:t>
            </a:r>
            <a:endParaRPr lang="en-US" sz="3200" dirty="0"/>
          </a:p>
        </p:txBody>
      </p:sp>
      <p:sp>
        <p:nvSpPr>
          <p:cNvPr id="3" name="Stat hourly records"/>
          <p:cNvSpPr/>
          <p:nvPr/>
        </p:nvSpPr>
        <p:spPr>
          <a:xfrm>
            <a:off x="457200" y="1188720"/>
            <a:ext cx="1920240" cy="146304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594360" y="1325880"/>
            <a:ext cx="1645920" cy="73152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43,824</a:t>
            </a:r>
            <a:endParaRPr lang="en-US" sz="3600" dirty="0"/>
          </a:p>
        </p:txBody>
      </p:sp>
      <p:sp>
        <p:nvSpPr>
          <p:cNvPr id="5" name="Text 3"/>
          <p:cNvSpPr txBox="1"/>
          <p:nvPr/>
        </p:nvSpPr>
        <p:spPr>
          <a:xfrm>
            <a:off x="59436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hourly records</a:t>
            </a:r>
            <a:endParaRPr lang="en-US" sz="1300" dirty="0"/>
          </a:p>
        </p:txBody>
      </p:sp>
      <p:sp>
        <p:nvSpPr>
          <p:cNvPr id="6" name="Stat 2010 – 2014"/>
          <p:cNvSpPr/>
          <p:nvPr/>
        </p:nvSpPr>
        <p:spPr>
          <a:xfrm>
            <a:off x="2560320" y="1188720"/>
            <a:ext cx="1920240" cy="146304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2697480" y="1325880"/>
            <a:ext cx="1645920" cy="73152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5 years</a:t>
            </a:r>
            <a:endParaRPr lang="en-US" sz="3600" dirty="0"/>
          </a:p>
        </p:txBody>
      </p:sp>
      <p:sp>
        <p:nvSpPr>
          <p:cNvPr id="8" name="Text 6"/>
          <p:cNvSpPr txBox="1"/>
          <p:nvPr/>
        </p:nvSpPr>
        <p:spPr>
          <a:xfrm>
            <a:off x="269748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2010 – 2014</a:t>
            </a:r>
            <a:endParaRPr lang="en-US" sz="1300" dirty="0"/>
          </a:p>
        </p:txBody>
      </p:sp>
      <p:sp>
        <p:nvSpPr>
          <p:cNvPr id="9" name="Stat variables"/>
          <p:cNvSpPr/>
          <p:nvPr/>
        </p:nvSpPr>
        <p:spPr>
          <a:xfrm>
            <a:off x="4663440" y="1188720"/>
            <a:ext cx="1920240" cy="146304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4800600" y="1325880"/>
            <a:ext cx="1645920" cy="73152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8</a:t>
            </a:r>
            <a:endParaRPr lang="en-US" sz="3600" dirty="0"/>
          </a:p>
        </p:txBody>
      </p:sp>
      <p:sp>
        <p:nvSpPr>
          <p:cNvPr id="11" name="Text 9"/>
          <p:cNvSpPr txBox="1"/>
          <p:nvPr/>
        </p:nvSpPr>
        <p:spPr>
          <a:xfrm>
            <a:off x="480060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variables</a:t>
            </a:r>
            <a:endParaRPr lang="en-US" sz="1300" dirty="0"/>
          </a:p>
        </p:txBody>
      </p:sp>
      <p:sp>
        <p:nvSpPr>
          <p:cNvPr id="12" name="Stat PM2.5 hours missing"/>
          <p:cNvSpPr/>
          <p:nvPr/>
        </p:nvSpPr>
        <p:spPr>
          <a:xfrm>
            <a:off x="6766560" y="1188720"/>
            <a:ext cx="1920240" cy="1463040"/>
          </a:xfrm>
          <a:prstGeom prst="roundRect">
            <a:avLst>
              <a:gd name="adj" fmla="val 5000"/>
            </a:avLst>
          </a:prstGeom>
          <a:solidFill>
            <a:schemeClr val="bg2"/>
          </a:solidFill>
          <a:ln w="12700">
            <a:solidFill>
              <a:schemeClr val="bg2"/>
            </a:solidFill>
            <a:prstDash val="solid"/>
          </a:ln>
        </p:spPr>
      </p:sp>
      <p:sp>
        <p:nvSpPr>
          <p:cNvPr id="13" name="Text 11"/>
          <p:cNvSpPr txBox="1"/>
          <p:nvPr/>
        </p:nvSpPr>
        <p:spPr>
          <a:xfrm>
            <a:off x="6903720" y="1325880"/>
            <a:ext cx="164592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4.7%</a:t>
            </a:r>
            <a:endParaRPr lang="en-US" sz="3600" dirty="0"/>
          </a:p>
        </p:txBody>
      </p:sp>
      <p:sp>
        <p:nvSpPr>
          <p:cNvPr id="14" name="Text 12"/>
          <p:cNvSpPr txBox="1"/>
          <p:nvPr/>
        </p:nvSpPr>
        <p:spPr>
          <a:xfrm>
            <a:off x="690372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PM2.5 hours missing</a:t>
            </a:r>
            <a:endParaRPr lang="en-US" sz="1300" dirty="0"/>
          </a:p>
        </p:txBody>
      </p:sp>
      <p:sp>
        <p:nvSpPr>
          <p:cNvPr id="15" name="Text 13"/>
          <p:cNvSpPr txBox="1"/>
          <p:nvPr/>
        </p:nvSpPr>
        <p:spPr>
          <a:xfrm>
            <a:off x="457200" y="292608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Variables</a:t>
            </a:r>
            <a:endParaRPr lang="en-US" sz="1400" dirty="0"/>
          </a:p>
        </p:txBody>
      </p:sp>
      <p:sp>
        <p:nvSpPr>
          <p:cNvPr id="16" name="Chip PM2.5 (target)"/>
          <p:cNvSpPr/>
          <p:nvPr/>
        </p:nvSpPr>
        <p:spPr>
          <a:xfrm>
            <a:off x="457200" y="3291840"/>
            <a:ext cx="1920240" cy="384048"/>
          </a:xfrm>
          <a:prstGeom prst="roundRect">
            <a:avLst>
              <a:gd name="adj" fmla="val 50000"/>
            </a:avLst>
          </a:prstGeom>
          <a:solidFill>
            <a:schemeClr val="accent1"/>
          </a:solidFill>
          <a:ln w="12700">
            <a:solidFill>
              <a:schemeClr val="accent1"/>
            </a:solidFill>
            <a:prstDash val="solid"/>
          </a:ln>
        </p:spPr>
      </p:sp>
      <p:sp>
        <p:nvSpPr>
          <p:cNvPr id="17" name="Text 15"/>
          <p:cNvSpPr txBox="1"/>
          <p:nvPr/>
        </p:nvSpPr>
        <p:spPr>
          <a:xfrm>
            <a:off x="457200" y="3291840"/>
            <a:ext cx="1920240" cy="384048"/>
          </a:xfrm>
          <a:prstGeom prst="rect">
            <a:avLst/>
          </a:prstGeom>
          <a:noFill/>
          <a:ln/>
        </p:spPr>
        <p:txBody>
          <a:bodyPr wrap="square" lIns="0" tIns="0" rIns="0" bIns="0" rtlCol="0" anchor="ctr"/>
          <a:lstStyle/>
          <a:p>
            <a:pPr algn="ctr" indent="0" marL="0">
              <a:buNone/>
            </a:pPr>
            <a:r>
              <a:rPr lang="en-US" sz="1300" b="1" dirty="0">
                <a:solidFill>
                  <a:schemeClr val="bg1"/>
                </a:solidFill>
              </a:rPr>
              <a:t>PM2.5 (target)</a:t>
            </a:r>
            <a:endParaRPr lang="en-US" sz="1300" dirty="0"/>
          </a:p>
        </p:txBody>
      </p:sp>
      <p:sp>
        <p:nvSpPr>
          <p:cNvPr id="18" name="Chip Dew point"/>
          <p:cNvSpPr/>
          <p:nvPr/>
        </p:nvSpPr>
        <p:spPr>
          <a:xfrm>
            <a:off x="2560320" y="3291840"/>
            <a:ext cx="1920240" cy="384048"/>
          </a:xfrm>
          <a:prstGeom prst="roundRect">
            <a:avLst>
              <a:gd name="adj" fmla="val 50000"/>
            </a:avLst>
          </a:prstGeom>
          <a:solidFill>
            <a:schemeClr val="bg1"/>
          </a:solidFill>
          <a:ln w="12700">
            <a:solidFill>
              <a:schemeClr val="accent4"/>
            </a:solidFill>
            <a:prstDash val="solid"/>
          </a:ln>
        </p:spPr>
      </p:sp>
      <p:sp>
        <p:nvSpPr>
          <p:cNvPr id="19" name="Text 17"/>
          <p:cNvSpPr txBox="1"/>
          <p:nvPr/>
        </p:nvSpPr>
        <p:spPr>
          <a:xfrm>
            <a:off x="2560320" y="329184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Dew point</a:t>
            </a:r>
            <a:endParaRPr lang="en-US" sz="1300" dirty="0"/>
          </a:p>
        </p:txBody>
      </p:sp>
      <p:sp>
        <p:nvSpPr>
          <p:cNvPr id="20" name="Chip Temperature"/>
          <p:cNvSpPr/>
          <p:nvPr/>
        </p:nvSpPr>
        <p:spPr>
          <a:xfrm>
            <a:off x="4663440" y="3291840"/>
            <a:ext cx="1920240" cy="384048"/>
          </a:xfrm>
          <a:prstGeom prst="roundRect">
            <a:avLst>
              <a:gd name="adj" fmla="val 50000"/>
            </a:avLst>
          </a:prstGeom>
          <a:solidFill>
            <a:schemeClr val="bg1"/>
          </a:solidFill>
          <a:ln w="12700">
            <a:solidFill>
              <a:schemeClr val="accent4"/>
            </a:solidFill>
            <a:prstDash val="solid"/>
          </a:ln>
        </p:spPr>
      </p:sp>
      <p:sp>
        <p:nvSpPr>
          <p:cNvPr id="21" name="Text 19"/>
          <p:cNvSpPr txBox="1"/>
          <p:nvPr/>
        </p:nvSpPr>
        <p:spPr>
          <a:xfrm>
            <a:off x="4663440" y="329184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Temperature</a:t>
            </a:r>
            <a:endParaRPr lang="en-US" sz="1300" dirty="0"/>
          </a:p>
        </p:txBody>
      </p:sp>
      <p:sp>
        <p:nvSpPr>
          <p:cNvPr id="22" name="Chip Pressure"/>
          <p:cNvSpPr/>
          <p:nvPr/>
        </p:nvSpPr>
        <p:spPr>
          <a:xfrm>
            <a:off x="6766560" y="3291840"/>
            <a:ext cx="1920240" cy="384048"/>
          </a:xfrm>
          <a:prstGeom prst="roundRect">
            <a:avLst>
              <a:gd name="adj" fmla="val 50000"/>
            </a:avLst>
          </a:prstGeom>
          <a:solidFill>
            <a:schemeClr val="bg1"/>
          </a:solidFill>
          <a:ln w="12700">
            <a:solidFill>
              <a:schemeClr val="accent4"/>
            </a:solidFill>
            <a:prstDash val="solid"/>
          </a:ln>
        </p:spPr>
      </p:sp>
      <p:sp>
        <p:nvSpPr>
          <p:cNvPr id="23" name="Text 21"/>
          <p:cNvSpPr txBox="1"/>
          <p:nvPr/>
        </p:nvSpPr>
        <p:spPr>
          <a:xfrm>
            <a:off x="6766560" y="329184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Pressure</a:t>
            </a:r>
            <a:endParaRPr lang="en-US" sz="1300" dirty="0"/>
          </a:p>
        </p:txBody>
      </p:sp>
      <p:sp>
        <p:nvSpPr>
          <p:cNvPr id="24" name="Chip Wind direction"/>
          <p:cNvSpPr/>
          <p:nvPr/>
        </p:nvSpPr>
        <p:spPr>
          <a:xfrm>
            <a:off x="457200" y="3794760"/>
            <a:ext cx="1920240" cy="384048"/>
          </a:xfrm>
          <a:prstGeom prst="roundRect">
            <a:avLst>
              <a:gd name="adj" fmla="val 50000"/>
            </a:avLst>
          </a:prstGeom>
          <a:solidFill>
            <a:schemeClr val="bg1"/>
          </a:solidFill>
          <a:ln w="12700">
            <a:solidFill>
              <a:schemeClr val="accent4"/>
            </a:solidFill>
            <a:prstDash val="solid"/>
          </a:ln>
        </p:spPr>
      </p:sp>
      <p:sp>
        <p:nvSpPr>
          <p:cNvPr id="25" name="Text 23"/>
          <p:cNvSpPr txBox="1"/>
          <p:nvPr/>
        </p:nvSpPr>
        <p:spPr>
          <a:xfrm>
            <a:off x="45720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Wind direction</a:t>
            </a:r>
            <a:endParaRPr lang="en-US" sz="1300" dirty="0"/>
          </a:p>
        </p:txBody>
      </p:sp>
      <p:sp>
        <p:nvSpPr>
          <p:cNvPr id="26" name="Chip Wind speed"/>
          <p:cNvSpPr/>
          <p:nvPr/>
        </p:nvSpPr>
        <p:spPr>
          <a:xfrm>
            <a:off x="2560320" y="3794760"/>
            <a:ext cx="1920240" cy="384048"/>
          </a:xfrm>
          <a:prstGeom prst="roundRect">
            <a:avLst>
              <a:gd name="adj" fmla="val 50000"/>
            </a:avLst>
          </a:prstGeom>
          <a:solidFill>
            <a:schemeClr val="bg1"/>
          </a:solidFill>
          <a:ln w="12700">
            <a:solidFill>
              <a:schemeClr val="accent4"/>
            </a:solidFill>
            <a:prstDash val="solid"/>
          </a:ln>
        </p:spPr>
      </p:sp>
      <p:sp>
        <p:nvSpPr>
          <p:cNvPr id="27" name="Text 25"/>
          <p:cNvSpPr txBox="1"/>
          <p:nvPr/>
        </p:nvSpPr>
        <p:spPr>
          <a:xfrm>
            <a:off x="256032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Wind speed</a:t>
            </a:r>
            <a:endParaRPr lang="en-US" sz="1300" dirty="0"/>
          </a:p>
        </p:txBody>
      </p:sp>
      <p:sp>
        <p:nvSpPr>
          <p:cNvPr id="28" name="Chip Snow hours"/>
          <p:cNvSpPr/>
          <p:nvPr/>
        </p:nvSpPr>
        <p:spPr>
          <a:xfrm>
            <a:off x="4663440" y="3794760"/>
            <a:ext cx="1920240" cy="384048"/>
          </a:xfrm>
          <a:prstGeom prst="roundRect">
            <a:avLst>
              <a:gd name="adj" fmla="val 50000"/>
            </a:avLst>
          </a:prstGeom>
          <a:solidFill>
            <a:schemeClr val="bg1"/>
          </a:solidFill>
          <a:ln w="12700">
            <a:solidFill>
              <a:schemeClr val="accent4"/>
            </a:solidFill>
            <a:prstDash val="solid"/>
          </a:ln>
        </p:spPr>
      </p:sp>
      <p:sp>
        <p:nvSpPr>
          <p:cNvPr id="29" name="Text 27"/>
          <p:cNvSpPr txBox="1"/>
          <p:nvPr/>
        </p:nvSpPr>
        <p:spPr>
          <a:xfrm>
            <a:off x="466344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Snow hours</a:t>
            </a:r>
            <a:endParaRPr lang="en-US" sz="1300" dirty="0"/>
          </a:p>
        </p:txBody>
      </p:sp>
      <p:sp>
        <p:nvSpPr>
          <p:cNvPr id="30" name="Chip Rain hours"/>
          <p:cNvSpPr/>
          <p:nvPr/>
        </p:nvSpPr>
        <p:spPr>
          <a:xfrm>
            <a:off x="6766560" y="3794760"/>
            <a:ext cx="1920240" cy="384048"/>
          </a:xfrm>
          <a:prstGeom prst="roundRect">
            <a:avLst>
              <a:gd name="adj" fmla="val 50000"/>
            </a:avLst>
          </a:prstGeom>
          <a:solidFill>
            <a:schemeClr val="bg1"/>
          </a:solidFill>
          <a:ln w="12700">
            <a:solidFill>
              <a:schemeClr val="accent4"/>
            </a:solidFill>
            <a:prstDash val="solid"/>
          </a:ln>
        </p:spPr>
      </p:sp>
      <p:sp>
        <p:nvSpPr>
          <p:cNvPr id="31" name="Text 29"/>
          <p:cNvSpPr txBox="1"/>
          <p:nvPr/>
        </p:nvSpPr>
        <p:spPr>
          <a:xfrm>
            <a:off x="676656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Rain hours</a:t>
            </a:r>
            <a:endParaRPr lang="en-US" sz="1300" dirty="0"/>
          </a:p>
        </p:txBody>
      </p:sp>
      <p:sp>
        <p:nvSpPr>
          <p:cNvPr id="32" name="Text 30"/>
          <p:cNvSpPr txBox="1"/>
          <p:nvPr/>
        </p:nvSpPr>
        <p:spPr>
          <a:xfrm>
            <a:off x="457200" y="4407408"/>
            <a:ext cx="8229600" cy="228600"/>
          </a:xfrm>
          <a:prstGeom prst="rect">
            <a:avLst/>
          </a:prstGeom>
          <a:noFill/>
          <a:ln/>
        </p:spPr>
        <p:txBody>
          <a:bodyPr wrap="square" lIns="0" tIns="0" rIns="0" bIns="0" rtlCol="0" anchor="ctr"/>
          <a:lstStyle/>
          <a:p>
            <a:pPr indent="0" marL="0">
              <a:buNone/>
            </a:pPr>
            <a:r>
              <a:rPr lang="en-US" sz="1000" dirty="0">
                <a:solidFill>
                  <a:schemeClr val="accent3"/>
                </a:solidFill>
              </a:rPr>
              <a:t>Source: UCI Machine Learning Repository (dataset 381), US Embassy monitor in Beijing</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Pollution peaks at night and in winter</a:t>
            </a:r>
            <a:endParaRPr lang="en-US" sz="3200" dirty="0"/>
          </a:p>
        </p:txBody>
      </p:sp>
      <p:graphicFrame>
        <p:nvGraphicFramePr>
          <p:cNvPr id="3" name="Chart by hour" descr=""/>
          <p:cNvGraphicFramePr/>
          <p:nvPr/>
        </p:nvGraphicFramePr>
        <p:xfrm>
          <a:off x="457200" y="109728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by month" descr=""/>
          <p:cNvGraphicFramePr/>
          <p:nvPr/>
        </p:nvGraphicFramePr>
        <p:xfrm>
          <a:off x="4663440" y="109728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400" b="1" dirty="0">
                <a:solidFill>
                  <a:schemeClr val="accent1"/>
                </a:solidFill>
              </a:rPr>
              <a:t>So what: </a:t>
            </a:r>
            <a:pPr indent="0" marL="0">
              <a:buNone/>
            </a:pPr>
            <a:r>
              <a:rPr lang="en-US" sz="1400" dirty="0">
                <a:solidFill>
                  <a:schemeClr val="tx1"/>
                </a:solidFill>
              </a:rPr>
              <a:t>we add hour, month and their sin/cos encodings as calendar features.</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PM2.5 is persistent and wind-driven</a:t>
            </a:r>
            <a:endParaRPr lang="en-US" sz="3200" dirty="0"/>
          </a:p>
        </p:txBody>
      </p:sp>
      <p:graphicFrame>
        <p:nvGraphicFramePr>
          <p:cNvPr id="3" name="Chart wind" descr=""/>
          <p:cNvGraphicFramePr/>
          <p:nvPr/>
        </p:nvGraphicFramePr>
        <p:xfrm>
          <a:off x="457200" y="109728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autocorrelation" descr=""/>
          <p:cNvGraphicFramePr/>
          <p:nvPr/>
        </p:nvGraphicFramePr>
        <p:xfrm>
          <a:off x="4663440" y="109728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400" b="1" dirty="0">
                <a:solidFill>
                  <a:schemeClr val="accent1"/>
                </a:solidFill>
              </a:rPr>
              <a:t>So what: </a:t>
            </a:r>
            <a:pPr indent="0" marL="0">
              <a:buNone/>
            </a:pPr>
            <a:r>
              <a:rPr lang="en-US" sz="1400" dirty="0">
                <a:solidFill>
                  <a:schemeClr val="tx1"/>
                </a:solidFill>
              </a:rPr>
              <a:t>northwest wind clears the air, and PM2.5 still correlates 0.75 with 6 hours earlier, so we add wind columns and lag features.</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Our pipeline</a:t>
            </a:r>
            <a:endParaRPr lang="en-US" sz="3200" dirty="0"/>
          </a:p>
        </p:txBody>
      </p:sp>
      <p:sp>
        <p:nvSpPr>
          <p:cNvPr id="3" name="Step Clean"/>
          <p:cNvSpPr/>
          <p:nvPr/>
        </p:nvSpPr>
        <p:spPr>
          <a:xfrm>
            <a:off x="457200" y="1234440"/>
            <a:ext cx="1463040" cy="2743200"/>
          </a:xfrm>
          <a:prstGeom prst="roundRect">
            <a:avLst>
              <a:gd name="adj" fmla="val 5000"/>
            </a:avLst>
          </a:prstGeom>
          <a:solidFill>
            <a:schemeClr val="bg2"/>
          </a:solidFill>
          <a:ln w="12700">
            <a:solidFill>
              <a:schemeClr val="bg2"/>
            </a:solidFill>
            <a:prstDash val="solid"/>
          </a:ln>
        </p:spPr>
      </p:sp>
      <p:sp>
        <p:nvSpPr>
          <p:cNvPr id="4" name="Clean circle"/>
          <p:cNvSpPr/>
          <p:nvPr/>
        </p:nvSpPr>
        <p:spPr>
          <a:xfrm>
            <a:off x="914400" y="1417320"/>
            <a:ext cx="548640" cy="548640"/>
          </a:xfrm>
          <a:prstGeom prst="ellipse">
            <a:avLst/>
          </a:prstGeom>
          <a:solidFill>
            <a:srgbClr val="16384A"/>
          </a:solidFill>
          <a:ln w="12700">
            <a:solidFill>
              <a:srgbClr val="16384A"/>
            </a:solidFill>
            <a:prstDash val="solid"/>
          </a:ln>
        </p:spPr>
      </p:sp>
      <p:pic>
        <p:nvPicPr>
          <p:cNvPr id="5" name="Clean icon" descr="Clean">    </p:cNvPr>
          <p:cNvPicPr>
            <a:picLocks noChangeAspect="1"/>
          </p:cNvPicPr>
          <p:nvPr/>
        </p:nvPicPr>
        <p:blipFill>
          <a:blip r:embed="rId1"/>
          <a:stretch>
            <a:fillRect/>
          </a:stretch>
        </p:blipFill>
        <p:spPr>
          <a:xfrm>
            <a:off x="1051560" y="1554480"/>
            <a:ext cx="274320" cy="274320"/>
          </a:xfrm>
          <a:prstGeom prst="rect">
            <a:avLst/>
          </a:prstGeom>
        </p:spPr>
      </p:pic>
      <p:sp>
        <p:nvSpPr>
          <p:cNvPr id="6" name="Text 3"/>
          <p:cNvSpPr txBox="1"/>
          <p:nvPr/>
        </p:nvSpPr>
        <p:spPr>
          <a:xfrm>
            <a:off x="548640"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1. Clean</a:t>
            </a:r>
            <a:endParaRPr lang="en-US" sz="1500" dirty="0"/>
          </a:p>
        </p:txBody>
      </p:sp>
      <p:sp>
        <p:nvSpPr>
          <p:cNvPr id="7" name="Text 4"/>
          <p:cNvSpPr txBox="1"/>
          <p:nvPr/>
        </p:nvSpPr>
        <p:spPr>
          <a:xfrm>
            <a:off x="548640"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data_loader.py</a:t>
            </a:r>
            <a:endParaRPr lang="en-US" sz="1000" dirty="0"/>
          </a:p>
        </p:txBody>
      </p:sp>
      <p:sp>
        <p:nvSpPr>
          <p:cNvPr id="8" name="Text 5"/>
          <p:cNvSpPr txBox="1"/>
          <p:nvPr/>
        </p:nvSpPr>
        <p:spPr>
          <a:xfrm>
            <a:off x="548640"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Hourly grid, missing flag, past-only fill</a:t>
            </a:r>
            <a:endParaRPr lang="en-US" sz="1200" dirty="0"/>
          </a:p>
        </p:txBody>
      </p:sp>
      <p:sp>
        <p:nvSpPr>
          <p:cNvPr id="9" name="Arrow 1"/>
          <p:cNvSpPr/>
          <p:nvPr/>
        </p:nvSpPr>
        <p:spPr>
          <a:xfrm>
            <a:off x="1956816" y="2514600"/>
            <a:ext cx="164592" cy="201168"/>
          </a:xfrm>
          <a:prstGeom prst="rightArrow">
            <a:avLst/>
          </a:prstGeom>
          <a:solidFill>
            <a:schemeClr val="accent3"/>
          </a:solidFill>
          <a:ln w="12700">
            <a:solidFill>
              <a:schemeClr val="accent3"/>
            </a:solidFill>
            <a:prstDash val="solid"/>
          </a:ln>
        </p:spPr>
      </p:sp>
      <p:sp>
        <p:nvSpPr>
          <p:cNvPr id="10" name="Step Features"/>
          <p:cNvSpPr/>
          <p:nvPr/>
        </p:nvSpPr>
        <p:spPr>
          <a:xfrm>
            <a:off x="2157984" y="1234440"/>
            <a:ext cx="1463040" cy="2743200"/>
          </a:xfrm>
          <a:prstGeom prst="roundRect">
            <a:avLst>
              <a:gd name="adj" fmla="val 5000"/>
            </a:avLst>
          </a:prstGeom>
          <a:solidFill>
            <a:schemeClr val="bg2"/>
          </a:solidFill>
          <a:ln w="12700">
            <a:solidFill>
              <a:schemeClr val="bg2"/>
            </a:solidFill>
            <a:prstDash val="solid"/>
          </a:ln>
        </p:spPr>
      </p:sp>
      <p:sp>
        <p:nvSpPr>
          <p:cNvPr id="11" name="Features circle"/>
          <p:cNvSpPr/>
          <p:nvPr/>
        </p:nvSpPr>
        <p:spPr>
          <a:xfrm>
            <a:off x="2615184" y="1417320"/>
            <a:ext cx="548640" cy="548640"/>
          </a:xfrm>
          <a:prstGeom prst="ellipse">
            <a:avLst/>
          </a:prstGeom>
          <a:solidFill>
            <a:srgbClr val="16384A"/>
          </a:solidFill>
          <a:ln w="12700">
            <a:solidFill>
              <a:srgbClr val="16384A"/>
            </a:solidFill>
            <a:prstDash val="solid"/>
          </a:ln>
        </p:spPr>
      </p:sp>
      <p:pic>
        <p:nvPicPr>
          <p:cNvPr id="12" name="Features icon" descr="Features">    </p:cNvPr>
          <p:cNvPicPr>
            <a:picLocks noChangeAspect="1"/>
          </p:cNvPicPr>
          <p:nvPr/>
        </p:nvPicPr>
        <p:blipFill>
          <a:blip r:embed="rId2"/>
          <a:stretch>
            <a:fillRect/>
          </a:stretch>
        </p:blipFill>
        <p:spPr>
          <a:xfrm>
            <a:off x="2752344" y="1554480"/>
            <a:ext cx="274320" cy="274320"/>
          </a:xfrm>
          <a:prstGeom prst="rect">
            <a:avLst/>
          </a:prstGeom>
        </p:spPr>
      </p:pic>
      <p:sp>
        <p:nvSpPr>
          <p:cNvPr id="13" name="Text 9"/>
          <p:cNvSpPr txBox="1"/>
          <p:nvPr/>
        </p:nvSpPr>
        <p:spPr>
          <a:xfrm>
            <a:off x="2249424"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2. Features</a:t>
            </a:r>
            <a:endParaRPr lang="en-US" sz="1500" dirty="0"/>
          </a:p>
        </p:txBody>
      </p:sp>
      <p:sp>
        <p:nvSpPr>
          <p:cNvPr id="14" name="Text 10"/>
          <p:cNvSpPr txBox="1"/>
          <p:nvPr/>
        </p:nvSpPr>
        <p:spPr>
          <a:xfrm>
            <a:off x="2249424"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features.py</a:t>
            </a:r>
            <a:endParaRPr lang="en-US" sz="1000" dirty="0"/>
          </a:p>
        </p:txBody>
      </p:sp>
      <p:sp>
        <p:nvSpPr>
          <p:cNvPr id="15" name="Text 11"/>
          <p:cNvSpPr txBox="1"/>
          <p:nvPr/>
        </p:nvSpPr>
        <p:spPr>
          <a:xfrm>
            <a:off x="2249424"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31 features + 6-hour target</a:t>
            </a:r>
            <a:endParaRPr lang="en-US" sz="1200" dirty="0"/>
          </a:p>
        </p:txBody>
      </p:sp>
      <p:sp>
        <p:nvSpPr>
          <p:cNvPr id="16" name="Arrow 2"/>
          <p:cNvSpPr/>
          <p:nvPr/>
        </p:nvSpPr>
        <p:spPr>
          <a:xfrm>
            <a:off x="3657600" y="2514600"/>
            <a:ext cx="164592" cy="201168"/>
          </a:xfrm>
          <a:prstGeom prst="rightArrow">
            <a:avLst/>
          </a:prstGeom>
          <a:solidFill>
            <a:schemeClr val="accent3"/>
          </a:solidFill>
          <a:ln w="12700">
            <a:solidFill>
              <a:schemeClr val="accent3"/>
            </a:solidFill>
            <a:prstDash val="solid"/>
          </a:ln>
        </p:spPr>
      </p:sp>
      <p:sp>
        <p:nvSpPr>
          <p:cNvPr id="17" name="Step Backtest"/>
          <p:cNvSpPr/>
          <p:nvPr/>
        </p:nvSpPr>
        <p:spPr>
          <a:xfrm>
            <a:off x="3858768" y="1234440"/>
            <a:ext cx="1463040" cy="2743200"/>
          </a:xfrm>
          <a:prstGeom prst="roundRect">
            <a:avLst>
              <a:gd name="adj" fmla="val 5000"/>
            </a:avLst>
          </a:prstGeom>
          <a:solidFill>
            <a:schemeClr val="bg2"/>
          </a:solidFill>
          <a:ln w="12700">
            <a:solidFill>
              <a:schemeClr val="bg2"/>
            </a:solidFill>
            <a:prstDash val="solid"/>
          </a:ln>
        </p:spPr>
      </p:sp>
      <p:sp>
        <p:nvSpPr>
          <p:cNvPr id="18" name="Backtest circle"/>
          <p:cNvSpPr/>
          <p:nvPr/>
        </p:nvSpPr>
        <p:spPr>
          <a:xfrm>
            <a:off x="4315968" y="1417320"/>
            <a:ext cx="548640" cy="548640"/>
          </a:xfrm>
          <a:prstGeom prst="ellipse">
            <a:avLst/>
          </a:prstGeom>
          <a:solidFill>
            <a:srgbClr val="16384A"/>
          </a:solidFill>
          <a:ln w="12700">
            <a:solidFill>
              <a:srgbClr val="16384A"/>
            </a:solidFill>
            <a:prstDash val="solid"/>
          </a:ln>
        </p:spPr>
      </p:sp>
      <p:pic>
        <p:nvPicPr>
          <p:cNvPr id="19" name="Backtest icon" descr="Backtest">    </p:cNvPr>
          <p:cNvPicPr>
            <a:picLocks noChangeAspect="1"/>
          </p:cNvPicPr>
          <p:nvPr/>
        </p:nvPicPr>
        <p:blipFill>
          <a:blip r:embed="rId3"/>
          <a:stretch>
            <a:fillRect/>
          </a:stretch>
        </p:blipFill>
        <p:spPr>
          <a:xfrm>
            <a:off x="4453128" y="1554480"/>
            <a:ext cx="274320" cy="274320"/>
          </a:xfrm>
          <a:prstGeom prst="rect">
            <a:avLst/>
          </a:prstGeom>
        </p:spPr>
      </p:pic>
      <p:sp>
        <p:nvSpPr>
          <p:cNvPr id="20" name="Text 15"/>
          <p:cNvSpPr txBox="1"/>
          <p:nvPr/>
        </p:nvSpPr>
        <p:spPr>
          <a:xfrm>
            <a:off x="3950208"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3. Backtest</a:t>
            </a:r>
            <a:endParaRPr lang="en-US" sz="1500" dirty="0"/>
          </a:p>
        </p:txBody>
      </p:sp>
      <p:sp>
        <p:nvSpPr>
          <p:cNvPr id="21" name="Text 16"/>
          <p:cNvSpPr txBox="1"/>
          <p:nvPr/>
        </p:nvSpPr>
        <p:spPr>
          <a:xfrm>
            <a:off x="3950208"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backtest.py</a:t>
            </a:r>
            <a:endParaRPr lang="en-US" sz="1000" dirty="0"/>
          </a:p>
        </p:txBody>
      </p:sp>
      <p:sp>
        <p:nvSpPr>
          <p:cNvPr id="22" name="Text 17"/>
          <p:cNvSpPr txBox="1"/>
          <p:nvPr/>
        </p:nvSpPr>
        <p:spPr>
          <a:xfrm>
            <a:off x="3950208"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4 time-ordered folds</a:t>
            </a:r>
            <a:endParaRPr lang="en-US" sz="1200" dirty="0"/>
          </a:p>
        </p:txBody>
      </p:sp>
      <p:sp>
        <p:nvSpPr>
          <p:cNvPr id="23" name="Arrow 3"/>
          <p:cNvSpPr/>
          <p:nvPr/>
        </p:nvSpPr>
        <p:spPr>
          <a:xfrm>
            <a:off x="5358384" y="2514600"/>
            <a:ext cx="164592" cy="201168"/>
          </a:xfrm>
          <a:prstGeom prst="rightArrow">
            <a:avLst/>
          </a:prstGeom>
          <a:solidFill>
            <a:schemeClr val="accent3"/>
          </a:solidFill>
          <a:ln w="12700">
            <a:solidFill>
              <a:schemeClr val="accent3"/>
            </a:solidFill>
            <a:prstDash val="solid"/>
          </a:ln>
        </p:spPr>
      </p:sp>
      <p:sp>
        <p:nvSpPr>
          <p:cNvPr id="24" name="Step Models"/>
          <p:cNvSpPr/>
          <p:nvPr/>
        </p:nvSpPr>
        <p:spPr>
          <a:xfrm>
            <a:off x="5559552" y="1234440"/>
            <a:ext cx="1463040" cy="2743200"/>
          </a:xfrm>
          <a:prstGeom prst="roundRect">
            <a:avLst>
              <a:gd name="adj" fmla="val 5000"/>
            </a:avLst>
          </a:prstGeom>
          <a:solidFill>
            <a:schemeClr val="bg2"/>
          </a:solidFill>
          <a:ln w="12700">
            <a:solidFill>
              <a:schemeClr val="bg2"/>
            </a:solidFill>
            <a:prstDash val="solid"/>
          </a:ln>
        </p:spPr>
      </p:sp>
      <p:sp>
        <p:nvSpPr>
          <p:cNvPr id="25" name="Models circle"/>
          <p:cNvSpPr/>
          <p:nvPr/>
        </p:nvSpPr>
        <p:spPr>
          <a:xfrm>
            <a:off x="6016752" y="1417320"/>
            <a:ext cx="548640" cy="548640"/>
          </a:xfrm>
          <a:prstGeom prst="ellipse">
            <a:avLst/>
          </a:prstGeom>
          <a:solidFill>
            <a:srgbClr val="16384A"/>
          </a:solidFill>
          <a:ln w="12700">
            <a:solidFill>
              <a:srgbClr val="16384A"/>
            </a:solidFill>
            <a:prstDash val="solid"/>
          </a:ln>
        </p:spPr>
      </p:sp>
      <p:pic>
        <p:nvPicPr>
          <p:cNvPr id="26" name="Models icon" descr="Models">    </p:cNvPr>
          <p:cNvPicPr>
            <a:picLocks noChangeAspect="1"/>
          </p:cNvPicPr>
          <p:nvPr/>
        </p:nvPicPr>
        <p:blipFill>
          <a:blip r:embed="rId4"/>
          <a:stretch>
            <a:fillRect/>
          </a:stretch>
        </p:blipFill>
        <p:spPr>
          <a:xfrm>
            <a:off x="6153912" y="1554480"/>
            <a:ext cx="274320" cy="274320"/>
          </a:xfrm>
          <a:prstGeom prst="rect">
            <a:avLst/>
          </a:prstGeom>
        </p:spPr>
      </p:pic>
      <p:sp>
        <p:nvSpPr>
          <p:cNvPr id="27" name="Text 21"/>
          <p:cNvSpPr txBox="1"/>
          <p:nvPr/>
        </p:nvSpPr>
        <p:spPr>
          <a:xfrm>
            <a:off x="5650992"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4. Models</a:t>
            </a:r>
            <a:endParaRPr lang="en-US" sz="1500" dirty="0"/>
          </a:p>
        </p:txBody>
      </p:sp>
      <p:sp>
        <p:nvSpPr>
          <p:cNvPr id="28" name="Text 22"/>
          <p:cNvSpPr txBox="1"/>
          <p:nvPr/>
        </p:nvSpPr>
        <p:spPr>
          <a:xfrm>
            <a:off x="5650992"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baselines.py · xgboost_model.py</a:t>
            </a:r>
            <a:endParaRPr lang="en-US" sz="1000" dirty="0"/>
          </a:p>
        </p:txBody>
      </p:sp>
      <p:sp>
        <p:nvSpPr>
          <p:cNvPr id="29" name="Text 23"/>
          <p:cNvSpPr txBox="1"/>
          <p:nvPr/>
        </p:nvSpPr>
        <p:spPr>
          <a:xfrm>
            <a:off x="5650992"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Persistence, seasonal naive, XGBoost</a:t>
            </a:r>
            <a:endParaRPr lang="en-US" sz="1200" dirty="0"/>
          </a:p>
        </p:txBody>
      </p:sp>
      <p:sp>
        <p:nvSpPr>
          <p:cNvPr id="30" name="Arrow 4"/>
          <p:cNvSpPr/>
          <p:nvPr/>
        </p:nvSpPr>
        <p:spPr>
          <a:xfrm>
            <a:off x="7059168" y="2514600"/>
            <a:ext cx="164592" cy="201168"/>
          </a:xfrm>
          <a:prstGeom prst="rightArrow">
            <a:avLst/>
          </a:prstGeom>
          <a:solidFill>
            <a:schemeClr val="accent3"/>
          </a:solidFill>
          <a:ln w="12700">
            <a:solidFill>
              <a:schemeClr val="accent3"/>
            </a:solidFill>
            <a:prstDash val="solid"/>
          </a:ln>
        </p:spPr>
      </p:sp>
      <p:sp>
        <p:nvSpPr>
          <p:cNvPr id="31" name="Step Evaluate"/>
          <p:cNvSpPr/>
          <p:nvPr/>
        </p:nvSpPr>
        <p:spPr>
          <a:xfrm>
            <a:off x="7260336" y="1234440"/>
            <a:ext cx="1463040" cy="2743200"/>
          </a:xfrm>
          <a:prstGeom prst="roundRect">
            <a:avLst>
              <a:gd name="adj" fmla="val 5000"/>
            </a:avLst>
          </a:prstGeom>
          <a:solidFill>
            <a:schemeClr val="bg2"/>
          </a:solidFill>
          <a:ln w="12700">
            <a:solidFill>
              <a:schemeClr val="bg2"/>
            </a:solidFill>
            <a:prstDash val="solid"/>
          </a:ln>
        </p:spPr>
      </p:sp>
      <p:sp>
        <p:nvSpPr>
          <p:cNvPr id="32" name="Evaluate circle"/>
          <p:cNvSpPr/>
          <p:nvPr/>
        </p:nvSpPr>
        <p:spPr>
          <a:xfrm>
            <a:off x="7717536" y="1417320"/>
            <a:ext cx="548640" cy="548640"/>
          </a:xfrm>
          <a:prstGeom prst="ellipse">
            <a:avLst/>
          </a:prstGeom>
          <a:solidFill>
            <a:srgbClr val="16384A"/>
          </a:solidFill>
          <a:ln w="12700">
            <a:solidFill>
              <a:srgbClr val="16384A"/>
            </a:solidFill>
            <a:prstDash val="solid"/>
          </a:ln>
        </p:spPr>
      </p:sp>
      <p:pic>
        <p:nvPicPr>
          <p:cNvPr id="33" name="Evaluate icon" descr="Evaluate">    </p:cNvPr>
          <p:cNvPicPr>
            <a:picLocks noChangeAspect="1"/>
          </p:cNvPicPr>
          <p:nvPr/>
        </p:nvPicPr>
        <p:blipFill>
          <a:blip r:embed="rId5"/>
          <a:stretch>
            <a:fillRect/>
          </a:stretch>
        </p:blipFill>
        <p:spPr>
          <a:xfrm>
            <a:off x="7854696" y="1554480"/>
            <a:ext cx="274320" cy="274320"/>
          </a:xfrm>
          <a:prstGeom prst="rect">
            <a:avLst/>
          </a:prstGeom>
        </p:spPr>
      </p:pic>
      <p:sp>
        <p:nvSpPr>
          <p:cNvPr id="34" name="Text 27"/>
          <p:cNvSpPr txBox="1"/>
          <p:nvPr/>
        </p:nvSpPr>
        <p:spPr>
          <a:xfrm>
            <a:off x="7351776"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5. Evaluate</a:t>
            </a:r>
            <a:endParaRPr lang="en-US" sz="1500" dirty="0"/>
          </a:p>
        </p:txBody>
      </p:sp>
      <p:sp>
        <p:nvSpPr>
          <p:cNvPr id="35" name="Text 28"/>
          <p:cNvSpPr txBox="1"/>
          <p:nvPr/>
        </p:nvSpPr>
        <p:spPr>
          <a:xfrm>
            <a:off x="7351776"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main.py · aqi.py</a:t>
            </a:r>
            <a:endParaRPr lang="en-US" sz="1000" dirty="0"/>
          </a:p>
        </p:txBody>
      </p:sp>
      <p:sp>
        <p:nvSpPr>
          <p:cNvPr id="36" name="Text 29"/>
          <p:cNvSpPr txBox="1"/>
          <p:nvPr/>
        </p:nvSpPr>
        <p:spPr>
          <a:xfrm>
            <a:off x="7351776"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MAE, RMSE, R², AQI category</a:t>
            </a:r>
            <a:endParaRPr lang="en-US" sz="1200" dirty="0"/>
          </a:p>
        </p:txBody>
      </p:sp>
      <p:sp>
        <p:nvSpPr>
          <p:cNvPr id="37" name="Text 30"/>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300" dirty="0">
                <a:solidFill>
                  <a:schemeClr val="tx1"/>
                </a:solidFill>
              </a:rPr>
              <a:t>Each step is one small Python file owned by one team member. Notebooks, 14 figures and 10 automated tests are in the public GitHub repository.</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31 features in 7 groups</a:t>
            </a:r>
            <a:endParaRPr lang="en-US" sz="3200" dirty="0"/>
          </a:p>
        </p:txBody>
      </p:sp>
      <p:sp>
        <p:nvSpPr>
          <p:cNvPr id="3" name="Feature group Current PM2.5"/>
          <p:cNvSpPr/>
          <p:nvPr/>
        </p:nvSpPr>
        <p:spPr>
          <a:xfrm>
            <a:off x="457200" y="1188720"/>
            <a:ext cx="1920240" cy="1508760"/>
          </a:xfrm>
          <a:prstGeom prst="roundRect">
            <a:avLst>
              <a:gd name="adj" fmla="val 4848"/>
            </a:avLst>
          </a:prstGeom>
          <a:solidFill>
            <a:schemeClr val="bg2"/>
          </a:solidFill>
          <a:ln w="12700">
            <a:solidFill>
              <a:schemeClr val="bg2"/>
            </a:solidFill>
            <a:prstDash val="solid"/>
          </a:ln>
        </p:spPr>
      </p:sp>
      <p:sp>
        <p:nvSpPr>
          <p:cNvPr id="4" name="Text 2"/>
          <p:cNvSpPr txBox="1"/>
          <p:nvPr/>
        </p:nvSpPr>
        <p:spPr>
          <a:xfrm>
            <a:off x="59436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59436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Current PM2.5</a:t>
            </a:r>
            <a:endParaRPr lang="en-US" sz="1400" dirty="0"/>
          </a:p>
        </p:txBody>
      </p:sp>
      <p:sp>
        <p:nvSpPr>
          <p:cNvPr id="6" name="Text 4"/>
          <p:cNvSpPr txBox="1"/>
          <p:nvPr/>
        </p:nvSpPr>
        <p:spPr>
          <a:xfrm>
            <a:off x="59436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PM2.5 right now</a:t>
            </a:r>
            <a:endParaRPr lang="en-US" sz="1100" dirty="0"/>
          </a:p>
        </p:txBody>
      </p:sp>
      <p:sp>
        <p:nvSpPr>
          <p:cNvPr id="7" name="Feature group Lags"/>
          <p:cNvSpPr/>
          <p:nvPr/>
        </p:nvSpPr>
        <p:spPr>
          <a:xfrm>
            <a:off x="2560320" y="1188720"/>
            <a:ext cx="1920240" cy="1508760"/>
          </a:xfrm>
          <a:prstGeom prst="roundRect">
            <a:avLst>
              <a:gd name="adj" fmla="val 4848"/>
            </a:avLst>
          </a:prstGeom>
          <a:solidFill>
            <a:schemeClr val="bg2"/>
          </a:solidFill>
          <a:ln w="12700">
            <a:solidFill>
              <a:schemeClr val="bg2"/>
            </a:solidFill>
            <a:prstDash val="solid"/>
          </a:ln>
        </p:spPr>
      </p:sp>
      <p:sp>
        <p:nvSpPr>
          <p:cNvPr id="8" name="Text 6"/>
          <p:cNvSpPr txBox="1"/>
          <p:nvPr/>
        </p:nvSpPr>
        <p:spPr>
          <a:xfrm>
            <a:off x="269748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7</a:t>
            </a:r>
            <a:endParaRPr lang="en-US" sz="2800" dirty="0"/>
          </a:p>
        </p:txBody>
      </p:sp>
      <p:sp>
        <p:nvSpPr>
          <p:cNvPr id="9" name="Text 7"/>
          <p:cNvSpPr txBox="1"/>
          <p:nvPr/>
        </p:nvSpPr>
        <p:spPr>
          <a:xfrm>
            <a:off x="269748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Lags</a:t>
            </a:r>
            <a:endParaRPr lang="en-US" sz="1400" dirty="0"/>
          </a:p>
        </p:txBody>
      </p:sp>
      <p:sp>
        <p:nvSpPr>
          <p:cNvPr id="10" name="Text 8"/>
          <p:cNvSpPr txBox="1"/>
          <p:nvPr/>
        </p:nvSpPr>
        <p:spPr>
          <a:xfrm>
            <a:off x="269748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1, 2, 3, 6, 12, 24 h ago + same hour yesterday</a:t>
            </a:r>
            <a:endParaRPr lang="en-US" sz="1100" dirty="0"/>
          </a:p>
        </p:txBody>
      </p:sp>
      <p:sp>
        <p:nvSpPr>
          <p:cNvPr id="11" name="Feature group Rolling means"/>
          <p:cNvSpPr/>
          <p:nvPr/>
        </p:nvSpPr>
        <p:spPr>
          <a:xfrm>
            <a:off x="4663440" y="1188720"/>
            <a:ext cx="1920240" cy="1508760"/>
          </a:xfrm>
          <a:prstGeom prst="roundRect">
            <a:avLst>
              <a:gd name="adj" fmla="val 4848"/>
            </a:avLst>
          </a:prstGeom>
          <a:solidFill>
            <a:schemeClr val="bg2"/>
          </a:solidFill>
          <a:ln w="12700">
            <a:solidFill>
              <a:schemeClr val="bg2"/>
            </a:solidFill>
            <a:prstDash val="solid"/>
          </a:ln>
        </p:spPr>
      </p:sp>
      <p:sp>
        <p:nvSpPr>
          <p:cNvPr id="12" name="Text 10"/>
          <p:cNvSpPr txBox="1"/>
          <p:nvPr/>
        </p:nvSpPr>
        <p:spPr>
          <a:xfrm>
            <a:off x="480060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480060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Rolling means</a:t>
            </a:r>
            <a:endParaRPr lang="en-US" sz="1400" dirty="0"/>
          </a:p>
        </p:txBody>
      </p:sp>
      <p:sp>
        <p:nvSpPr>
          <p:cNvPr id="14" name="Text 12"/>
          <p:cNvSpPr txBox="1"/>
          <p:nvPr/>
        </p:nvSpPr>
        <p:spPr>
          <a:xfrm>
            <a:off x="480060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Averages of the last 6 h and 24 h</a:t>
            </a:r>
            <a:endParaRPr lang="en-US" sz="1100" dirty="0"/>
          </a:p>
        </p:txBody>
      </p:sp>
      <p:sp>
        <p:nvSpPr>
          <p:cNvPr id="15" name="Feature group Calendar"/>
          <p:cNvSpPr/>
          <p:nvPr/>
        </p:nvSpPr>
        <p:spPr>
          <a:xfrm>
            <a:off x="6766560" y="1188720"/>
            <a:ext cx="1920240" cy="1508760"/>
          </a:xfrm>
          <a:prstGeom prst="roundRect">
            <a:avLst>
              <a:gd name="adj" fmla="val 4848"/>
            </a:avLst>
          </a:prstGeom>
          <a:solidFill>
            <a:schemeClr val="bg2"/>
          </a:solidFill>
          <a:ln w="12700">
            <a:solidFill>
              <a:schemeClr val="bg2"/>
            </a:solidFill>
            <a:prstDash val="solid"/>
          </a:ln>
        </p:spPr>
      </p:sp>
      <p:sp>
        <p:nvSpPr>
          <p:cNvPr id="16" name="Text 14"/>
          <p:cNvSpPr txBox="1"/>
          <p:nvPr/>
        </p:nvSpPr>
        <p:spPr>
          <a:xfrm>
            <a:off x="690372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8</a:t>
            </a:r>
            <a:endParaRPr lang="en-US" sz="2800" dirty="0"/>
          </a:p>
        </p:txBody>
      </p:sp>
      <p:sp>
        <p:nvSpPr>
          <p:cNvPr id="17" name="Text 15"/>
          <p:cNvSpPr txBox="1"/>
          <p:nvPr/>
        </p:nvSpPr>
        <p:spPr>
          <a:xfrm>
            <a:off x="690372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Calendar</a:t>
            </a:r>
            <a:endParaRPr lang="en-US" sz="1400" dirty="0"/>
          </a:p>
        </p:txBody>
      </p:sp>
      <p:sp>
        <p:nvSpPr>
          <p:cNvPr id="18" name="Text 16"/>
          <p:cNvSpPr txBox="1"/>
          <p:nvPr/>
        </p:nvSpPr>
        <p:spPr>
          <a:xfrm>
            <a:off x="690372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Hour, weekday, month, weekend, sin/cos</a:t>
            </a:r>
            <a:endParaRPr lang="en-US" sz="1100" dirty="0"/>
          </a:p>
        </p:txBody>
      </p:sp>
      <p:sp>
        <p:nvSpPr>
          <p:cNvPr id="19" name="Feature group Weather"/>
          <p:cNvSpPr/>
          <p:nvPr/>
        </p:nvSpPr>
        <p:spPr>
          <a:xfrm>
            <a:off x="457200" y="2880360"/>
            <a:ext cx="1920240" cy="1508760"/>
          </a:xfrm>
          <a:prstGeom prst="roundRect">
            <a:avLst>
              <a:gd name="adj" fmla="val 4848"/>
            </a:avLst>
          </a:prstGeom>
          <a:solidFill>
            <a:schemeClr val="bg2"/>
          </a:solidFill>
          <a:ln w="12700">
            <a:solidFill>
              <a:schemeClr val="bg2"/>
            </a:solidFill>
            <a:prstDash val="solid"/>
          </a:ln>
        </p:spPr>
      </p:sp>
      <p:sp>
        <p:nvSpPr>
          <p:cNvPr id="20" name="Text 18"/>
          <p:cNvSpPr txBox="1"/>
          <p:nvPr/>
        </p:nvSpPr>
        <p:spPr>
          <a:xfrm>
            <a:off x="594360" y="299008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8</a:t>
            </a:r>
            <a:endParaRPr lang="en-US" sz="2800" dirty="0"/>
          </a:p>
        </p:txBody>
      </p:sp>
      <p:sp>
        <p:nvSpPr>
          <p:cNvPr id="21" name="Text 19"/>
          <p:cNvSpPr txBox="1"/>
          <p:nvPr/>
        </p:nvSpPr>
        <p:spPr>
          <a:xfrm>
            <a:off x="594360" y="350215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Weather</a:t>
            </a:r>
            <a:endParaRPr lang="en-US" sz="1400" dirty="0"/>
          </a:p>
        </p:txBody>
      </p:sp>
      <p:sp>
        <p:nvSpPr>
          <p:cNvPr id="22" name="Text 20"/>
          <p:cNvSpPr txBox="1"/>
          <p:nvPr/>
        </p:nvSpPr>
        <p:spPr>
          <a:xfrm>
            <a:off x="594360" y="3776472"/>
            <a:ext cx="1691640" cy="548640"/>
          </a:xfrm>
          <a:prstGeom prst="rect">
            <a:avLst/>
          </a:prstGeom>
          <a:noFill/>
          <a:ln/>
        </p:spPr>
        <p:txBody>
          <a:bodyPr wrap="square" lIns="0" tIns="0" rIns="0" bIns="0" rtlCol="0" anchor="t"/>
          <a:lstStyle/>
          <a:p>
            <a:pPr indent="0" marL="0">
              <a:buNone/>
            </a:pPr>
            <a:r>
              <a:rPr lang="en-US" sz="1100" dirty="0">
                <a:solidFill>
                  <a:schemeClr val="tx1"/>
                </a:solidFill>
              </a:rPr>
              <a:t>Temperature, dew point, pressure, wind speed, rain, snow + 2 derived</a:t>
            </a:r>
            <a:endParaRPr lang="en-US" sz="1100" dirty="0"/>
          </a:p>
        </p:txBody>
      </p:sp>
      <p:sp>
        <p:nvSpPr>
          <p:cNvPr id="23" name="Feature group Wind direction"/>
          <p:cNvSpPr/>
          <p:nvPr/>
        </p:nvSpPr>
        <p:spPr>
          <a:xfrm>
            <a:off x="2560320" y="2880360"/>
            <a:ext cx="1920240" cy="1508760"/>
          </a:xfrm>
          <a:prstGeom prst="roundRect">
            <a:avLst>
              <a:gd name="adj" fmla="val 4848"/>
            </a:avLst>
          </a:prstGeom>
          <a:solidFill>
            <a:schemeClr val="bg2"/>
          </a:solidFill>
          <a:ln w="12700">
            <a:solidFill>
              <a:schemeClr val="bg2"/>
            </a:solidFill>
            <a:prstDash val="solid"/>
          </a:ln>
        </p:spPr>
      </p:sp>
      <p:sp>
        <p:nvSpPr>
          <p:cNvPr id="24" name="Text 22"/>
          <p:cNvSpPr txBox="1"/>
          <p:nvPr/>
        </p:nvSpPr>
        <p:spPr>
          <a:xfrm>
            <a:off x="2697480" y="299008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p:txBody>
      </p:sp>
      <p:sp>
        <p:nvSpPr>
          <p:cNvPr id="25" name="Text 23"/>
          <p:cNvSpPr txBox="1"/>
          <p:nvPr/>
        </p:nvSpPr>
        <p:spPr>
          <a:xfrm>
            <a:off x="2697480" y="350215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Wind direction</a:t>
            </a:r>
            <a:endParaRPr lang="en-US" sz="1400" dirty="0"/>
          </a:p>
        </p:txBody>
      </p:sp>
      <p:sp>
        <p:nvSpPr>
          <p:cNvPr id="26" name="Text 24"/>
          <p:cNvSpPr txBox="1"/>
          <p:nvPr/>
        </p:nvSpPr>
        <p:spPr>
          <a:xfrm>
            <a:off x="2697480" y="3776472"/>
            <a:ext cx="1691640" cy="548640"/>
          </a:xfrm>
          <a:prstGeom prst="rect">
            <a:avLst/>
          </a:prstGeom>
          <a:noFill/>
          <a:ln/>
        </p:spPr>
        <p:txBody>
          <a:bodyPr wrap="square" lIns="0" tIns="0" rIns="0" bIns="0" rtlCol="0" anchor="t"/>
          <a:lstStyle/>
          <a:p>
            <a:pPr indent="0" marL="0">
              <a:buNone/>
            </a:pPr>
            <a:r>
              <a:rPr lang="en-US" sz="1100" dirty="0">
                <a:solidFill>
                  <a:schemeClr val="tx1"/>
                </a:solidFill>
              </a:rPr>
              <a:t>NE, NW, SE, calm (one-hot)</a:t>
            </a:r>
            <a:endParaRPr lang="en-US" sz="1100" dirty="0"/>
          </a:p>
        </p:txBody>
      </p:sp>
      <p:sp>
        <p:nvSpPr>
          <p:cNvPr id="27" name="Feature group Missing flag"/>
          <p:cNvSpPr/>
          <p:nvPr/>
        </p:nvSpPr>
        <p:spPr>
          <a:xfrm>
            <a:off x="4663440" y="2880360"/>
            <a:ext cx="1920240" cy="1508760"/>
          </a:xfrm>
          <a:prstGeom prst="roundRect">
            <a:avLst>
              <a:gd name="adj" fmla="val 4848"/>
            </a:avLst>
          </a:prstGeom>
          <a:solidFill>
            <a:schemeClr val="bg2"/>
          </a:solidFill>
          <a:ln w="12700">
            <a:solidFill>
              <a:schemeClr val="bg2"/>
            </a:solidFill>
            <a:prstDash val="solid"/>
          </a:ln>
        </p:spPr>
      </p:sp>
      <p:sp>
        <p:nvSpPr>
          <p:cNvPr id="28" name="Text 26"/>
          <p:cNvSpPr txBox="1"/>
          <p:nvPr/>
        </p:nvSpPr>
        <p:spPr>
          <a:xfrm>
            <a:off x="4800600" y="299008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29" name="Text 27"/>
          <p:cNvSpPr txBox="1"/>
          <p:nvPr/>
        </p:nvSpPr>
        <p:spPr>
          <a:xfrm>
            <a:off x="4800600" y="350215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Missing flag</a:t>
            </a:r>
            <a:endParaRPr lang="en-US" sz="1400" dirty="0"/>
          </a:p>
        </p:txBody>
      </p:sp>
      <p:sp>
        <p:nvSpPr>
          <p:cNvPr id="30" name="Text 28"/>
          <p:cNvSpPr txBox="1"/>
          <p:nvPr/>
        </p:nvSpPr>
        <p:spPr>
          <a:xfrm>
            <a:off x="4800600" y="3776472"/>
            <a:ext cx="1691640" cy="548640"/>
          </a:xfrm>
          <a:prstGeom prst="rect">
            <a:avLst/>
          </a:prstGeom>
          <a:noFill/>
          <a:ln/>
        </p:spPr>
        <p:txBody>
          <a:bodyPr wrap="square" lIns="0" tIns="0" rIns="0" bIns="0" rtlCol="0" anchor="t"/>
          <a:lstStyle/>
          <a:p>
            <a:pPr indent="0" marL="0">
              <a:buNone/>
            </a:pPr>
            <a:r>
              <a:rPr lang="en-US" sz="1100" dirty="0">
                <a:solidFill>
                  <a:schemeClr val="tx1"/>
                </a:solidFill>
              </a:rPr>
              <a:t>Was PM2.5 measured this hour?</a:t>
            </a:r>
            <a:endParaRPr lang="en-US" sz="1100" dirty="0"/>
          </a:p>
        </p:txBody>
      </p:sp>
      <p:sp>
        <p:nvSpPr>
          <p:cNvPr id="31" name="Feature group Target"/>
          <p:cNvSpPr/>
          <p:nvPr/>
        </p:nvSpPr>
        <p:spPr>
          <a:xfrm>
            <a:off x="6766560" y="2880360"/>
            <a:ext cx="1920240" cy="1508760"/>
          </a:xfrm>
          <a:prstGeom prst="roundRect">
            <a:avLst>
              <a:gd name="adj" fmla="val 4848"/>
            </a:avLst>
          </a:prstGeom>
          <a:solidFill>
            <a:schemeClr val="accent1"/>
          </a:solidFill>
          <a:ln w="12700">
            <a:solidFill>
              <a:schemeClr val="accent1"/>
            </a:solidFill>
            <a:prstDash val="solid"/>
          </a:ln>
        </p:spPr>
      </p:sp>
      <p:sp>
        <p:nvSpPr>
          <p:cNvPr id="32" name="Text 30"/>
          <p:cNvSpPr txBox="1"/>
          <p:nvPr/>
        </p:nvSpPr>
        <p:spPr>
          <a:xfrm>
            <a:off x="6903720" y="2990088"/>
            <a:ext cx="16459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6 h</a:t>
            </a:r>
            <a:endParaRPr lang="en-US" sz="2800" dirty="0"/>
          </a:p>
        </p:txBody>
      </p:sp>
      <p:sp>
        <p:nvSpPr>
          <p:cNvPr id="33" name="Text 31"/>
          <p:cNvSpPr txBox="1"/>
          <p:nvPr/>
        </p:nvSpPr>
        <p:spPr>
          <a:xfrm>
            <a:off x="6903720" y="3502152"/>
            <a:ext cx="1645920" cy="274320"/>
          </a:xfrm>
          <a:prstGeom prst="rect">
            <a:avLst/>
          </a:prstGeom>
          <a:noFill/>
          <a:ln/>
        </p:spPr>
        <p:txBody>
          <a:bodyPr wrap="square" lIns="0" tIns="0" rIns="0" bIns="0" rtlCol="0" anchor="ctr"/>
          <a:lstStyle/>
          <a:p>
            <a:pPr indent="0" marL="0">
              <a:buNone/>
            </a:pPr>
            <a:r>
              <a:rPr lang="en-US" sz="1400" b="1" dirty="0">
                <a:solidFill>
                  <a:schemeClr val="bg1"/>
                </a:solidFill>
              </a:rPr>
              <a:t>Target</a:t>
            </a:r>
            <a:endParaRPr lang="en-US" sz="1400" dirty="0"/>
          </a:p>
        </p:txBody>
      </p:sp>
      <p:sp>
        <p:nvSpPr>
          <p:cNvPr id="34" name="Text 32"/>
          <p:cNvSpPr txBox="1"/>
          <p:nvPr/>
        </p:nvSpPr>
        <p:spPr>
          <a:xfrm>
            <a:off x="6903720" y="3776472"/>
            <a:ext cx="1691640" cy="548640"/>
          </a:xfrm>
          <a:prstGeom prst="rect">
            <a:avLst/>
          </a:prstGeom>
          <a:noFill/>
          <a:ln/>
        </p:spPr>
        <p:txBody>
          <a:bodyPr wrap="square" lIns="0" tIns="0" rIns="0" bIns="0" rtlCol="0" anchor="t"/>
          <a:lstStyle/>
          <a:p>
            <a:pPr indent="0" marL="0">
              <a:buNone/>
            </a:pPr>
            <a:r>
              <a:rPr lang="en-US" sz="1100" dirty="0">
                <a:solidFill>
                  <a:schemeClr val="bg1"/>
                </a:solidFill>
              </a:rPr>
              <a:t>PM2.5 6 hours later, measured hours only</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A fair, time-ordered backtest</a:t>
            </a:r>
            <a:endParaRPr lang="en-US" sz="3200" dirty="0"/>
          </a:p>
        </p:txBody>
      </p:sp>
      <p:sp>
        <p:nvSpPr>
          <p:cNvPr id="3" name="Grid 2010"/>
          <p:cNvSpPr/>
          <p:nvPr/>
        </p:nvSpPr>
        <p:spPr>
          <a:xfrm>
            <a:off x="1280160" y="1371600"/>
            <a:ext cx="0" cy="1783080"/>
          </a:xfrm>
          <a:prstGeom prst="line">
            <a:avLst/>
          </a:prstGeom>
          <a:noFill/>
          <a:ln w="9525">
            <a:solidFill>
              <a:schemeClr val="accent4"/>
            </a:solidFill>
            <a:prstDash val="solid"/>
          </a:ln>
        </p:spPr>
      </p:sp>
      <p:sp>
        <p:nvSpPr>
          <p:cNvPr id="4" name="Text 2"/>
          <p:cNvSpPr txBox="1"/>
          <p:nvPr/>
        </p:nvSpPr>
        <p:spPr>
          <a:xfrm>
            <a:off x="1005840"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2010</a:t>
            </a:r>
            <a:endParaRPr lang="en-US" sz="1100" dirty="0"/>
          </a:p>
        </p:txBody>
      </p:sp>
      <p:sp>
        <p:nvSpPr>
          <p:cNvPr id="5" name="Grid 2011"/>
          <p:cNvSpPr/>
          <p:nvPr/>
        </p:nvSpPr>
        <p:spPr>
          <a:xfrm>
            <a:off x="2724912" y="1371600"/>
            <a:ext cx="0" cy="1783080"/>
          </a:xfrm>
          <a:prstGeom prst="line">
            <a:avLst/>
          </a:prstGeom>
          <a:noFill/>
          <a:ln w="9525">
            <a:solidFill>
              <a:schemeClr val="accent4"/>
            </a:solidFill>
            <a:prstDash val="solid"/>
          </a:ln>
        </p:spPr>
      </p:sp>
      <p:sp>
        <p:nvSpPr>
          <p:cNvPr id="6" name="Text 4"/>
          <p:cNvSpPr txBox="1"/>
          <p:nvPr/>
        </p:nvSpPr>
        <p:spPr>
          <a:xfrm>
            <a:off x="2450592"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2011</a:t>
            </a:r>
            <a:endParaRPr lang="en-US" sz="1100" dirty="0"/>
          </a:p>
        </p:txBody>
      </p:sp>
      <p:sp>
        <p:nvSpPr>
          <p:cNvPr id="7" name="Grid 2012"/>
          <p:cNvSpPr/>
          <p:nvPr/>
        </p:nvSpPr>
        <p:spPr>
          <a:xfrm>
            <a:off x="4169664" y="1371600"/>
            <a:ext cx="0" cy="1783080"/>
          </a:xfrm>
          <a:prstGeom prst="line">
            <a:avLst/>
          </a:prstGeom>
          <a:noFill/>
          <a:ln w="9525">
            <a:solidFill>
              <a:schemeClr val="accent4"/>
            </a:solidFill>
            <a:prstDash val="solid"/>
          </a:ln>
        </p:spPr>
      </p:sp>
      <p:sp>
        <p:nvSpPr>
          <p:cNvPr id="8" name="Text 6"/>
          <p:cNvSpPr txBox="1"/>
          <p:nvPr/>
        </p:nvSpPr>
        <p:spPr>
          <a:xfrm>
            <a:off x="3895344"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2012</a:t>
            </a:r>
            <a:endParaRPr lang="en-US" sz="1100" dirty="0"/>
          </a:p>
        </p:txBody>
      </p:sp>
      <p:sp>
        <p:nvSpPr>
          <p:cNvPr id="9" name="Grid 2013"/>
          <p:cNvSpPr/>
          <p:nvPr/>
        </p:nvSpPr>
        <p:spPr>
          <a:xfrm>
            <a:off x="5614416" y="1371600"/>
            <a:ext cx="0" cy="1783080"/>
          </a:xfrm>
          <a:prstGeom prst="line">
            <a:avLst/>
          </a:prstGeom>
          <a:noFill/>
          <a:ln w="9525">
            <a:solidFill>
              <a:schemeClr val="accent4"/>
            </a:solidFill>
            <a:prstDash val="solid"/>
          </a:ln>
        </p:spPr>
      </p:sp>
      <p:sp>
        <p:nvSpPr>
          <p:cNvPr id="10" name="Text 8"/>
          <p:cNvSpPr txBox="1"/>
          <p:nvPr/>
        </p:nvSpPr>
        <p:spPr>
          <a:xfrm>
            <a:off x="5340096"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2013</a:t>
            </a:r>
            <a:endParaRPr lang="en-US" sz="1100" dirty="0"/>
          </a:p>
        </p:txBody>
      </p:sp>
      <p:sp>
        <p:nvSpPr>
          <p:cNvPr id="11" name="Grid 2014"/>
          <p:cNvSpPr/>
          <p:nvPr/>
        </p:nvSpPr>
        <p:spPr>
          <a:xfrm>
            <a:off x="7059168" y="1371600"/>
            <a:ext cx="0" cy="1783080"/>
          </a:xfrm>
          <a:prstGeom prst="line">
            <a:avLst/>
          </a:prstGeom>
          <a:noFill/>
          <a:ln w="9525">
            <a:solidFill>
              <a:schemeClr val="accent4"/>
            </a:solidFill>
            <a:prstDash val="solid"/>
          </a:ln>
        </p:spPr>
      </p:sp>
      <p:sp>
        <p:nvSpPr>
          <p:cNvPr id="12" name="Text 10"/>
          <p:cNvSpPr txBox="1"/>
          <p:nvPr/>
        </p:nvSpPr>
        <p:spPr>
          <a:xfrm>
            <a:off x="6784848"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2014</a:t>
            </a:r>
            <a:endParaRPr lang="en-US" sz="1100" dirty="0"/>
          </a:p>
        </p:txBody>
      </p:sp>
      <p:sp>
        <p:nvSpPr>
          <p:cNvPr id="13" name="Grid 2015"/>
          <p:cNvSpPr/>
          <p:nvPr/>
        </p:nvSpPr>
        <p:spPr>
          <a:xfrm>
            <a:off x="8503920" y="1371600"/>
            <a:ext cx="0" cy="1783080"/>
          </a:xfrm>
          <a:prstGeom prst="line">
            <a:avLst/>
          </a:prstGeom>
          <a:noFill/>
          <a:ln w="9525">
            <a:solidFill>
              <a:schemeClr val="accent4"/>
            </a:solidFill>
            <a:prstDash val="solid"/>
          </a:ln>
        </p:spPr>
      </p:sp>
      <p:sp>
        <p:nvSpPr>
          <p:cNvPr id="14" name="Text 12"/>
          <p:cNvSpPr txBox="1"/>
          <p:nvPr/>
        </p:nvSpPr>
        <p:spPr>
          <a:xfrm>
            <a:off x="8229600"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2015</a:t>
            </a:r>
            <a:endParaRPr lang="en-US" sz="1100" dirty="0"/>
          </a:p>
        </p:txBody>
      </p:sp>
      <p:sp>
        <p:nvSpPr>
          <p:cNvPr id="15" name="Text 13"/>
          <p:cNvSpPr txBox="1"/>
          <p:nvPr/>
        </p:nvSpPr>
        <p:spPr>
          <a:xfrm>
            <a:off x="457200" y="1417320"/>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1</a:t>
            </a:r>
            <a:endParaRPr lang="en-US" sz="1300" dirty="0"/>
          </a:p>
        </p:txBody>
      </p:sp>
      <p:sp>
        <p:nvSpPr>
          <p:cNvPr id="16" name="Fold 1 train"/>
          <p:cNvSpPr/>
          <p:nvPr/>
        </p:nvSpPr>
        <p:spPr>
          <a:xfrm>
            <a:off x="1280160" y="1417320"/>
            <a:ext cx="4334256" cy="310896"/>
          </a:xfrm>
          <a:prstGeom prst="rect">
            <a:avLst/>
          </a:prstGeom>
          <a:solidFill>
            <a:schemeClr val="accent2"/>
          </a:solidFill>
          <a:ln w="12700">
            <a:solidFill>
              <a:schemeClr val="accent2"/>
            </a:solidFill>
            <a:prstDash val="solid"/>
          </a:ln>
        </p:spPr>
      </p:sp>
      <p:sp>
        <p:nvSpPr>
          <p:cNvPr id="17" name="Fold 1 test"/>
          <p:cNvSpPr/>
          <p:nvPr/>
        </p:nvSpPr>
        <p:spPr>
          <a:xfrm>
            <a:off x="5614416" y="1417320"/>
            <a:ext cx="722376" cy="310896"/>
          </a:xfrm>
          <a:prstGeom prst="rect">
            <a:avLst/>
          </a:prstGeom>
          <a:solidFill>
            <a:schemeClr val="accent1"/>
          </a:solidFill>
          <a:ln w="12700">
            <a:solidFill>
              <a:schemeClr val="accent1"/>
            </a:solidFill>
            <a:prstDash val="solid"/>
          </a:ln>
        </p:spPr>
      </p:sp>
      <p:sp>
        <p:nvSpPr>
          <p:cNvPr id="18" name="Text 16"/>
          <p:cNvSpPr txBox="1"/>
          <p:nvPr/>
        </p:nvSpPr>
        <p:spPr>
          <a:xfrm>
            <a:off x="457200" y="1847088"/>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2</a:t>
            </a:r>
            <a:endParaRPr lang="en-US" sz="1300" dirty="0"/>
          </a:p>
        </p:txBody>
      </p:sp>
      <p:sp>
        <p:nvSpPr>
          <p:cNvPr id="19" name="Fold 2 train"/>
          <p:cNvSpPr/>
          <p:nvPr/>
        </p:nvSpPr>
        <p:spPr>
          <a:xfrm>
            <a:off x="1280160" y="1847088"/>
            <a:ext cx="5056632" cy="310896"/>
          </a:xfrm>
          <a:prstGeom prst="rect">
            <a:avLst/>
          </a:prstGeom>
          <a:solidFill>
            <a:schemeClr val="accent2"/>
          </a:solidFill>
          <a:ln w="12700">
            <a:solidFill>
              <a:schemeClr val="accent2"/>
            </a:solidFill>
            <a:prstDash val="solid"/>
          </a:ln>
        </p:spPr>
      </p:sp>
      <p:sp>
        <p:nvSpPr>
          <p:cNvPr id="20" name="Fold 2 test"/>
          <p:cNvSpPr/>
          <p:nvPr/>
        </p:nvSpPr>
        <p:spPr>
          <a:xfrm>
            <a:off x="6336792" y="1847088"/>
            <a:ext cx="722376" cy="310896"/>
          </a:xfrm>
          <a:prstGeom prst="rect">
            <a:avLst/>
          </a:prstGeom>
          <a:solidFill>
            <a:schemeClr val="accent1"/>
          </a:solidFill>
          <a:ln w="12700">
            <a:solidFill>
              <a:schemeClr val="accent1"/>
            </a:solidFill>
            <a:prstDash val="solid"/>
          </a:ln>
        </p:spPr>
      </p:sp>
      <p:sp>
        <p:nvSpPr>
          <p:cNvPr id="21" name="Text 19"/>
          <p:cNvSpPr txBox="1"/>
          <p:nvPr/>
        </p:nvSpPr>
        <p:spPr>
          <a:xfrm>
            <a:off x="457200" y="2276856"/>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3</a:t>
            </a:r>
            <a:endParaRPr lang="en-US" sz="1300" dirty="0"/>
          </a:p>
        </p:txBody>
      </p:sp>
      <p:sp>
        <p:nvSpPr>
          <p:cNvPr id="22" name="Fold 3 train"/>
          <p:cNvSpPr/>
          <p:nvPr/>
        </p:nvSpPr>
        <p:spPr>
          <a:xfrm>
            <a:off x="1280160" y="2276856"/>
            <a:ext cx="5779008" cy="310896"/>
          </a:xfrm>
          <a:prstGeom prst="rect">
            <a:avLst/>
          </a:prstGeom>
          <a:solidFill>
            <a:schemeClr val="accent2"/>
          </a:solidFill>
          <a:ln w="12700">
            <a:solidFill>
              <a:schemeClr val="accent2"/>
            </a:solidFill>
            <a:prstDash val="solid"/>
          </a:ln>
        </p:spPr>
      </p:sp>
      <p:sp>
        <p:nvSpPr>
          <p:cNvPr id="23" name="Fold 3 test"/>
          <p:cNvSpPr/>
          <p:nvPr/>
        </p:nvSpPr>
        <p:spPr>
          <a:xfrm>
            <a:off x="7059168" y="2276856"/>
            <a:ext cx="722376" cy="310896"/>
          </a:xfrm>
          <a:prstGeom prst="rect">
            <a:avLst/>
          </a:prstGeom>
          <a:solidFill>
            <a:schemeClr val="accent1"/>
          </a:solidFill>
          <a:ln w="12700">
            <a:solidFill>
              <a:schemeClr val="accent1"/>
            </a:solidFill>
            <a:prstDash val="solid"/>
          </a:ln>
        </p:spPr>
      </p:sp>
      <p:sp>
        <p:nvSpPr>
          <p:cNvPr id="24" name="Text 22"/>
          <p:cNvSpPr txBox="1"/>
          <p:nvPr/>
        </p:nvSpPr>
        <p:spPr>
          <a:xfrm>
            <a:off x="457200" y="2706624"/>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4</a:t>
            </a:r>
            <a:endParaRPr lang="en-US" sz="1300" dirty="0"/>
          </a:p>
        </p:txBody>
      </p:sp>
      <p:sp>
        <p:nvSpPr>
          <p:cNvPr id="25" name="Fold 4 train"/>
          <p:cNvSpPr/>
          <p:nvPr/>
        </p:nvSpPr>
        <p:spPr>
          <a:xfrm>
            <a:off x="1280160" y="2706624"/>
            <a:ext cx="6501384" cy="310896"/>
          </a:xfrm>
          <a:prstGeom prst="rect">
            <a:avLst/>
          </a:prstGeom>
          <a:solidFill>
            <a:schemeClr val="accent2"/>
          </a:solidFill>
          <a:ln w="12700">
            <a:solidFill>
              <a:schemeClr val="accent2"/>
            </a:solidFill>
            <a:prstDash val="solid"/>
          </a:ln>
        </p:spPr>
      </p:sp>
      <p:sp>
        <p:nvSpPr>
          <p:cNvPr id="26" name="Fold 4 test"/>
          <p:cNvSpPr/>
          <p:nvPr/>
        </p:nvSpPr>
        <p:spPr>
          <a:xfrm>
            <a:off x="7781544" y="2706624"/>
            <a:ext cx="722376" cy="310896"/>
          </a:xfrm>
          <a:prstGeom prst="rect">
            <a:avLst/>
          </a:prstGeom>
          <a:solidFill>
            <a:schemeClr val="accent1"/>
          </a:solidFill>
          <a:ln w="12700">
            <a:solidFill>
              <a:schemeClr val="accent1"/>
            </a:solidFill>
            <a:prstDash val="solid"/>
          </a:ln>
        </p:spPr>
      </p:sp>
      <p:sp>
        <p:nvSpPr>
          <p:cNvPr id="27" name="Legend train"/>
          <p:cNvSpPr/>
          <p:nvPr/>
        </p:nvSpPr>
        <p:spPr>
          <a:xfrm>
            <a:off x="6309360" y="1069848"/>
            <a:ext cx="182880" cy="182880"/>
          </a:xfrm>
          <a:prstGeom prst="rect">
            <a:avLst/>
          </a:prstGeom>
          <a:solidFill>
            <a:schemeClr val="accent2"/>
          </a:solidFill>
          <a:ln w="12700">
            <a:solidFill>
              <a:schemeClr val="accent2"/>
            </a:solidFill>
            <a:prstDash val="solid"/>
          </a:ln>
        </p:spPr>
      </p:sp>
      <p:sp>
        <p:nvSpPr>
          <p:cNvPr id="28" name="Text 26"/>
          <p:cNvSpPr txBox="1"/>
          <p:nvPr/>
        </p:nvSpPr>
        <p:spPr>
          <a:xfrm>
            <a:off x="6537960" y="1033272"/>
            <a:ext cx="640080" cy="256032"/>
          </a:xfrm>
          <a:prstGeom prst="rect">
            <a:avLst/>
          </a:prstGeom>
          <a:noFill/>
          <a:ln/>
        </p:spPr>
        <p:txBody>
          <a:bodyPr wrap="square" lIns="0" tIns="0" rIns="0" bIns="0" rtlCol="0" anchor="ctr"/>
          <a:lstStyle/>
          <a:p>
            <a:pPr indent="0" marL="0">
              <a:buNone/>
            </a:pPr>
            <a:r>
              <a:rPr lang="en-US" sz="1200" dirty="0">
                <a:solidFill>
                  <a:schemeClr val="tx1"/>
                </a:solidFill>
              </a:rPr>
              <a:t>Train</a:t>
            </a:r>
            <a:endParaRPr lang="en-US" sz="1200" dirty="0"/>
          </a:p>
        </p:txBody>
      </p:sp>
      <p:sp>
        <p:nvSpPr>
          <p:cNvPr id="29" name="Legend test"/>
          <p:cNvSpPr/>
          <p:nvPr/>
        </p:nvSpPr>
        <p:spPr>
          <a:xfrm>
            <a:off x="7223760" y="1069848"/>
            <a:ext cx="182880" cy="182880"/>
          </a:xfrm>
          <a:prstGeom prst="rect">
            <a:avLst/>
          </a:prstGeom>
          <a:solidFill>
            <a:schemeClr val="accent1"/>
          </a:solidFill>
          <a:ln w="12700">
            <a:solidFill>
              <a:schemeClr val="accent1"/>
            </a:solidFill>
            <a:prstDash val="solid"/>
          </a:ln>
        </p:spPr>
      </p:sp>
      <p:sp>
        <p:nvSpPr>
          <p:cNvPr id="30" name="Text 28"/>
          <p:cNvSpPr txBox="1"/>
          <p:nvPr/>
        </p:nvSpPr>
        <p:spPr>
          <a:xfrm>
            <a:off x="7452360" y="1033272"/>
            <a:ext cx="1234440" cy="256032"/>
          </a:xfrm>
          <a:prstGeom prst="rect">
            <a:avLst/>
          </a:prstGeom>
          <a:noFill/>
          <a:ln/>
        </p:spPr>
        <p:txBody>
          <a:bodyPr wrap="square" lIns="0" tIns="0" rIns="0" bIns="0" rtlCol="0" anchor="ctr"/>
          <a:lstStyle/>
          <a:p>
            <a:pPr indent="0" marL="0">
              <a:buNone/>
            </a:pPr>
            <a:r>
              <a:rPr lang="en-US" sz="1200" dirty="0">
                <a:solidFill>
                  <a:schemeClr val="tx1"/>
                </a:solidFill>
              </a:rPr>
              <a:t>Test (6 months)</a:t>
            </a:r>
            <a:endParaRPr lang="en-US" sz="1200" dirty="0"/>
          </a:p>
        </p:txBody>
      </p:sp>
      <p:sp>
        <p:nvSpPr>
          <p:cNvPr id="31" name="Future only circle"/>
          <p:cNvSpPr/>
          <p:nvPr/>
        </p:nvSpPr>
        <p:spPr>
          <a:xfrm>
            <a:off x="457200" y="3611880"/>
            <a:ext cx="457200" cy="457200"/>
          </a:xfrm>
          <a:prstGeom prst="ellipse">
            <a:avLst/>
          </a:prstGeom>
          <a:solidFill>
            <a:srgbClr val="EEF3F5"/>
          </a:solidFill>
          <a:ln w="12700">
            <a:solidFill>
              <a:srgbClr val="EEF3F5"/>
            </a:solidFill>
            <a:prstDash val="solid"/>
          </a:ln>
        </p:spPr>
      </p:sp>
      <p:pic>
        <p:nvPicPr>
          <p:cNvPr id="32" name="Future only icon" descr="Future only">    </p:cNvPr>
          <p:cNvPicPr>
            <a:picLocks noChangeAspect="1"/>
          </p:cNvPicPr>
          <p:nvPr/>
        </p:nvPicPr>
        <p:blipFill>
          <a:blip r:embed="rId1"/>
          <a:stretch>
            <a:fillRect/>
          </a:stretch>
        </p:blipFill>
        <p:spPr>
          <a:xfrm>
            <a:off x="571500" y="3726180"/>
            <a:ext cx="228600" cy="228600"/>
          </a:xfrm>
          <a:prstGeom prst="rect">
            <a:avLst/>
          </a:prstGeom>
        </p:spPr>
      </p:pic>
      <p:sp>
        <p:nvSpPr>
          <p:cNvPr id="33" name="Text 30"/>
          <p:cNvSpPr txBox="1"/>
          <p:nvPr/>
        </p:nvSpPr>
        <p:spPr>
          <a:xfrm>
            <a:off x="1024128" y="3584448"/>
            <a:ext cx="2103120" cy="274320"/>
          </a:xfrm>
          <a:prstGeom prst="rect">
            <a:avLst/>
          </a:prstGeom>
          <a:noFill/>
          <a:ln/>
        </p:spPr>
        <p:txBody>
          <a:bodyPr wrap="square" lIns="0" tIns="0" rIns="0" bIns="0" rtlCol="0" anchor="ctr"/>
          <a:lstStyle/>
          <a:p>
            <a:pPr indent="0" marL="0">
              <a:buNone/>
            </a:pPr>
            <a:r>
              <a:rPr lang="en-US" sz="1400" b="1" dirty="0">
                <a:solidFill>
                  <a:schemeClr val="tx2"/>
                </a:solidFill>
              </a:rPr>
              <a:t>Future only</a:t>
            </a:r>
            <a:endParaRPr lang="en-US" sz="1400" dirty="0"/>
          </a:p>
        </p:txBody>
      </p:sp>
      <p:sp>
        <p:nvSpPr>
          <p:cNvPr id="34" name="Text 31"/>
          <p:cNvSpPr txBox="1"/>
          <p:nvPr/>
        </p:nvSpPr>
        <p:spPr>
          <a:xfrm>
            <a:off x="1024128" y="3858768"/>
            <a:ext cx="2103120" cy="685800"/>
          </a:xfrm>
          <a:prstGeom prst="rect">
            <a:avLst/>
          </a:prstGeom>
          <a:noFill/>
          <a:ln/>
        </p:spPr>
        <p:txBody>
          <a:bodyPr wrap="square" lIns="0" tIns="0" rIns="0" bIns="0" rtlCol="0" anchor="t"/>
          <a:lstStyle/>
          <a:p>
            <a:pPr indent="0" marL="0">
              <a:buNone/>
            </a:pPr>
            <a:r>
              <a:rPr lang="en-US" sz="1200" dirty="0">
                <a:solidFill>
                  <a:schemeClr val="tx1"/>
                </a:solidFill>
              </a:rPr>
              <a:t>Train on all earlier data, test on the next 6 months. Never shuffle.</a:t>
            </a:r>
            <a:endParaRPr lang="en-US" sz="1200" dirty="0"/>
          </a:p>
        </p:txBody>
      </p:sp>
      <p:sp>
        <p:nvSpPr>
          <p:cNvPr id="35" name="No leakage circle"/>
          <p:cNvSpPr/>
          <p:nvPr/>
        </p:nvSpPr>
        <p:spPr>
          <a:xfrm>
            <a:off x="3246120" y="3611880"/>
            <a:ext cx="457200" cy="457200"/>
          </a:xfrm>
          <a:prstGeom prst="ellipse">
            <a:avLst/>
          </a:prstGeom>
          <a:solidFill>
            <a:srgbClr val="EEF3F5"/>
          </a:solidFill>
          <a:ln w="12700">
            <a:solidFill>
              <a:srgbClr val="EEF3F5"/>
            </a:solidFill>
            <a:prstDash val="solid"/>
          </a:ln>
        </p:spPr>
      </p:sp>
      <p:pic>
        <p:nvPicPr>
          <p:cNvPr id="36" name="No leakage icon" descr="No leakage">    </p:cNvPr>
          <p:cNvPicPr>
            <a:picLocks noChangeAspect="1"/>
          </p:cNvPicPr>
          <p:nvPr/>
        </p:nvPicPr>
        <p:blipFill>
          <a:blip r:embed="rId2"/>
          <a:stretch>
            <a:fillRect/>
          </a:stretch>
        </p:blipFill>
        <p:spPr>
          <a:xfrm>
            <a:off x="3360420" y="3726180"/>
            <a:ext cx="228600" cy="228600"/>
          </a:xfrm>
          <a:prstGeom prst="rect">
            <a:avLst/>
          </a:prstGeom>
        </p:spPr>
      </p:pic>
      <p:sp>
        <p:nvSpPr>
          <p:cNvPr id="37" name="Text 33"/>
          <p:cNvSpPr txBox="1"/>
          <p:nvPr/>
        </p:nvSpPr>
        <p:spPr>
          <a:xfrm>
            <a:off x="3813048" y="3584448"/>
            <a:ext cx="2103120" cy="274320"/>
          </a:xfrm>
          <a:prstGeom prst="rect">
            <a:avLst/>
          </a:prstGeom>
          <a:noFill/>
          <a:ln/>
        </p:spPr>
        <p:txBody>
          <a:bodyPr wrap="square" lIns="0" tIns="0" rIns="0" bIns="0" rtlCol="0" anchor="ctr"/>
          <a:lstStyle/>
          <a:p>
            <a:pPr indent="0" marL="0">
              <a:buNone/>
            </a:pPr>
            <a:r>
              <a:rPr lang="en-US" sz="1400" b="1" dirty="0">
                <a:solidFill>
                  <a:schemeClr val="tx2"/>
                </a:solidFill>
              </a:rPr>
              <a:t>No leakage</a:t>
            </a:r>
            <a:endParaRPr lang="en-US" sz="1400" dirty="0"/>
          </a:p>
        </p:txBody>
      </p:sp>
      <p:sp>
        <p:nvSpPr>
          <p:cNvPr id="38" name="Text 34"/>
          <p:cNvSpPr txBox="1"/>
          <p:nvPr/>
        </p:nvSpPr>
        <p:spPr>
          <a:xfrm>
            <a:off x="3813048" y="3858768"/>
            <a:ext cx="2103120" cy="685800"/>
          </a:xfrm>
          <a:prstGeom prst="rect">
            <a:avLst/>
          </a:prstGeom>
          <a:noFill/>
          <a:ln/>
        </p:spPr>
        <p:txBody>
          <a:bodyPr wrap="square" lIns="0" tIns="0" rIns="0" bIns="0" rtlCol="0" anchor="t"/>
          <a:lstStyle/>
          <a:p>
            <a:pPr indent="0" marL="0">
              <a:buNone/>
            </a:pPr>
            <a:r>
              <a:rPr lang="en-US" sz="1200" dirty="0">
                <a:solidFill>
                  <a:schemeClr val="tx1"/>
                </a:solidFill>
              </a:rPr>
              <a:t>The last 6 training hours are never used as targets.</a:t>
            </a:r>
            <a:endParaRPr lang="en-US" sz="1200" dirty="0"/>
          </a:p>
        </p:txBody>
      </p:sp>
      <p:sp>
        <p:nvSpPr>
          <p:cNvPr id="39" name="Same test for all circle"/>
          <p:cNvSpPr/>
          <p:nvPr/>
        </p:nvSpPr>
        <p:spPr>
          <a:xfrm>
            <a:off x="6035040" y="3611880"/>
            <a:ext cx="457200" cy="457200"/>
          </a:xfrm>
          <a:prstGeom prst="ellipse">
            <a:avLst/>
          </a:prstGeom>
          <a:solidFill>
            <a:srgbClr val="EEF3F5"/>
          </a:solidFill>
          <a:ln w="12700">
            <a:solidFill>
              <a:srgbClr val="EEF3F5"/>
            </a:solidFill>
            <a:prstDash val="solid"/>
          </a:ln>
        </p:spPr>
      </p:sp>
      <p:pic>
        <p:nvPicPr>
          <p:cNvPr id="40" name="Same test for all icon" descr="Same test for all">    </p:cNvPr>
          <p:cNvPicPr>
            <a:picLocks noChangeAspect="1"/>
          </p:cNvPicPr>
          <p:nvPr/>
        </p:nvPicPr>
        <p:blipFill>
          <a:blip r:embed="rId3"/>
          <a:stretch>
            <a:fillRect/>
          </a:stretch>
        </p:blipFill>
        <p:spPr>
          <a:xfrm>
            <a:off x="6149340" y="3726180"/>
            <a:ext cx="228600" cy="228600"/>
          </a:xfrm>
          <a:prstGeom prst="rect">
            <a:avLst/>
          </a:prstGeom>
        </p:spPr>
      </p:pic>
      <p:sp>
        <p:nvSpPr>
          <p:cNvPr id="41" name="Text 36"/>
          <p:cNvSpPr txBox="1"/>
          <p:nvPr/>
        </p:nvSpPr>
        <p:spPr>
          <a:xfrm>
            <a:off x="6601968" y="3584448"/>
            <a:ext cx="2103120" cy="274320"/>
          </a:xfrm>
          <a:prstGeom prst="rect">
            <a:avLst/>
          </a:prstGeom>
          <a:noFill/>
          <a:ln/>
        </p:spPr>
        <p:txBody>
          <a:bodyPr wrap="square" lIns="0" tIns="0" rIns="0" bIns="0" rtlCol="0" anchor="ctr"/>
          <a:lstStyle/>
          <a:p>
            <a:pPr indent="0" marL="0">
              <a:buNone/>
            </a:pPr>
            <a:r>
              <a:rPr lang="en-US" sz="1400" b="1" dirty="0">
                <a:solidFill>
                  <a:schemeClr val="tx2"/>
                </a:solidFill>
              </a:rPr>
              <a:t>Same test for all</a:t>
            </a:r>
            <a:endParaRPr lang="en-US" sz="1400" dirty="0"/>
          </a:p>
        </p:txBody>
      </p:sp>
      <p:sp>
        <p:nvSpPr>
          <p:cNvPr id="42" name="Text 37"/>
          <p:cNvSpPr txBox="1"/>
          <p:nvPr/>
        </p:nvSpPr>
        <p:spPr>
          <a:xfrm>
            <a:off x="6601968" y="3858768"/>
            <a:ext cx="2103120" cy="685800"/>
          </a:xfrm>
          <a:prstGeom prst="rect">
            <a:avLst/>
          </a:prstGeom>
          <a:noFill/>
          <a:ln/>
        </p:spPr>
        <p:txBody>
          <a:bodyPr wrap="square" lIns="0" tIns="0" rIns="0" bIns="0" rtlCol="0" anchor="t"/>
          <a:lstStyle/>
          <a:p>
            <a:pPr indent="0" marL="0">
              <a:buNone/>
            </a:pPr>
            <a:r>
              <a:rPr lang="en-US" sz="1200" dirty="0">
                <a:solidFill>
                  <a:schemeClr val="tx1"/>
                </a:solidFill>
              </a:rPr>
              <a:t>Every model is scored on the same measured hours.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Three models compared</a:t>
            </a:r>
            <a:endParaRPr lang="en-US" sz="3200" dirty="0"/>
          </a:p>
        </p:txBody>
      </p:sp>
      <p:sp>
        <p:nvSpPr>
          <p:cNvPr id="3" name="Model Persistence"/>
          <p:cNvSpPr/>
          <p:nvPr/>
        </p:nvSpPr>
        <p:spPr>
          <a:xfrm>
            <a:off x="457200" y="1188720"/>
            <a:ext cx="2615184" cy="2880360"/>
          </a:xfrm>
          <a:prstGeom prst="roundRect">
            <a:avLst>
              <a:gd name="adj" fmla="val 2797"/>
            </a:avLst>
          </a:prstGeom>
          <a:solidFill>
            <a:schemeClr val="bg2"/>
          </a:solidFill>
          <a:ln w="12700">
            <a:solidFill>
              <a:schemeClr val="bg2"/>
            </a:solidFill>
            <a:prstDash val="solid"/>
          </a:ln>
        </p:spPr>
      </p:sp>
      <p:sp>
        <p:nvSpPr>
          <p:cNvPr id="4" name="Persistence circle"/>
          <p:cNvSpPr/>
          <p:nvPr/>
        </p:nvSpPr>
        <p:spPr>
          <a:xfrm>
            <a:off x="685800" y="1371600"/>
            <a:ext cx="548640" cy="548640"/>
          </a:xfrm>
          <a:prstGeom prst="ellipse">
            <a:avLst/>
          </a:prstGeom>
          <a:solidFill>
            <a:srgbClr val="16384A"/>
          </a:solidFill>
          <a:ln w="12700">
            <a:solidFill>
              <a:srgbClr val="16384A"/>
            </a:solidFill>
            <a:prstDash val="solid"/>
          </a:ln>
        </p:spPr>
      </p:sp>
      <p:pic>
        <p:nvPicPr>
          <p:cNvPr id="5" name="Persistence icon" descr="Persistence">    </p:cNvPr>
          <p:cNvPicPr>
            <a:picLocks noChangeAspect="1"/>
          </p:cNvPicPr>
          <p:nvPr/>
        </p:nvPicPr>
        <p:blipFill>
          <a:blip r:embed="rId1"/>
          <a:stretch>
            <a:fillRect/>
          </a:stretch>
        </p:blipFill>
        <p:spPr>
          <a:xfrm>
            <a:off x="822960" y="1508760"/>
            <a:ext cx="274320" cy="274320"/>
          </a:xfrm>
          <a:prstGeom prst="rect">
            <a:avLst/>
          </a:prstGeom>
        </p:spPr>
      </p:pic>
      <p:sp>
        <p:nvSpPr>
          <p:cNvPr id="6" name="Text 3"/>
          <p:cNvSpPr txBox="1"/>
          <p:nvPr/>
        </p:nvSpPr>
        <p:spPr>
          <a:xfrm>
            <a:off x="1371600" y="1417320"/>
            <a:ext cx="155448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BASELINE</a:t>
            </a:r>
            <a:endParaRPr lang="en-US" sz="1000" dirty="0"/>
          </a:p>
        </p:txBody>
      </p:sp>
      <p:sp>
        <p:nvSpPr>
          <p:cNvPr id="7" name="Text 4"/>
          <p:cNvSpPr txBox="1"/>
          <p:nvPr/>
        </p:nvSpPr>
        <p:spPr>
          <a:xfrm>
            <a:off x="1371600" y="164592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Persistence</a:t>
            </a:r>
            <a:endParaRPr lang="en-US" sz="1800" dirty="0"/>
          </a:p>
        </p:txBody>
      </p:sp>
      <p:sp>
        <p:nvSpPr>
          <p:cNvPr id="8" name="Text 5"/>
          <p:cNvSpPr txBox="1"/>
          <p:nvPr/>
        </p:nvSpPr>
        <p:spPr>
          <a:xfrm>
            <a:off x="68580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PM2.5 in 6 hours = PM2.5 now</a:t>
            </a:r>
            <a:endParaRPr lang="en-US" sz="1400" dirty="0"/>
          </a:p>
        </p:txBody>
      </p:sp>
      <p:sp>
        <p:nvSpPr>
          <p:cNvPr id="9" name="Text 6"/>
          <p:cNvSpPr txBox="1"/>
          <p:nvPr/>
        </p:nvSpPr>
        <p:spPr>
          <a:xfrm>
            <a:off x="685800" y="3291840"/>
            <a:ext cx="2194560" cy="685800"/>
          </a:xfrm>
          <a:prstGeom prst="rect">
            <a:avLst/>
          </a:prstGeom>
          <a:noFill/>
          <a:ln/>
        </p:spPr>
        <p:txBody>
          <a:bodyPr wrap="square" lIns="0" tIns="0" rIns="0" bIns="0" rtlCol="0" anchor="t"/>
          <a:lstStyle/>
          <a:p>
            <a:pPr indent="0" marL="0">
              <a:buNone/>
            </a:pPr>
            <a:r>
              <a:rPr lang="en-US" sz="1200" i="1" dirty="0">
                <a:solidFill>
                  <a:schemeClr val="accent2"/>
                </a:solidFill>
              </a:rPr>
              <a:t>Strong because pollution changes slowly</a:t>
            </a:r>
            <a:endParaRPr lang="en-US" sz="1200" dirty="0"/>
          </a:p>
        </p:txBody>
      </p:sp>
      <p:sp>
        <p:nvSpPr>
          <p:cNvPr id="10" name="Model Seasonal naive"/>
          <p:cNvSpPr/>
          <p:nvPr/>
        </p:nvSpPr>
        <p:spPr>
          <a:xfrm>
            <a:off x="3264408" y="1188720"/>
            <a:ext cx="2615184" cy="2880360"/>
          </a:xfrm>
          <a:prstGeom prst="roundRect">
            <a:avLst>
              <a:gd name="adj" fmla="val 2797"/>
            </a:avLst>
          </a:prstGeom>
          <a:solidFill>
            <a:schemeClr val="bg2"/>
          </a:solidFill>
          <a:ln w="12700">
            <a:solidFill>
              <a:schemeClr val="bg2"/>
            </a:solidFill>
            <a:prstDash val="solid"/>
          </a:ln>
        </p:spPr>
      </p:sp>
      <p:sp>
        <p:nvSpPr>
          <p:cNvPr id="11" name="Seasonal naive circle"/>
          <p:cNvSpPr/>
          <p:nvPr/>
        </p:nvSpPr>
        <p:spPr>
          <a:xfrm>
            <a:off x="3493008" y="1371600"/>
            <a:ext cx="548640" cy="548640"/>
          </a:xfrm>
          <a:prstGeom prst="ellipse">
            <a:avLst/>
          </a:prstGeom>
          <a:solidFill>
            <a:srgbClr val="16384A"/>
          </a:solidFill>
          <a:ln w="12700">
            <a:solidFill>
              <a:srgbClr val="16384A"/>
            </a:solidFill>
            <a:prstDash val="solid"/>
          </a:ln>
        </p:spPr>
      </p:sp>
      <p:pic>
        <p:nvPicPr>
          <p:cNvPr id="12" name="Seasonal naive icon" descr="Seasonal naive">    </p:cNvPr>
          <p:cNvPicPr>
            <a:picLocks noChangeAspect="1"/>
          </p:cNvPicPr>
          <p:nvPr/>
        </p:nvPicPr>
        <p:blipFill>
          <a:blip r:embed="rId2"/>
          <a:stretch>
            <a:fillRect/>
          </a:stretch>
        </p:blipFill>
        <p:spPr>
          <a:xfrm>
            <a:off x="3630168" y="1508760"/>
            <a:ext cx="274320" cy="274320"/>
          </a:xfrm>
          <a:prstGeom prst="rect">
            <a:avLst/>
          </a:prstGeom>
        </p:spPr>
      </p:pic>
      <p:sp>
        <p:nvSpPr>
          <p:cNvPr id="13" name="Text 9"/>
          <p:cNvSpPr txBox="1"/>
          <p:nvPr/>
        </p:nvSpPr>
        <p:spPr>
          <a:xfrm>
            <a:off x="4178808" y="1417320"/>
            <a:ext cx="155448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BASELINE</a:t>
            </a:r>
            <a:endParaRPr lang="en-US" sz="1000" dirty="0"/>
          </a:p>
        </p:txBody>
      </p:sp>
      <p:sp>
        <p:nvSpPr>
          <p:cNvPr id="14" name="Text 10"/>
          <p:cNvSpPr txBox="1"/>
          <p:nvPr/>
        </p:nvSpPr>
        <p:spPr>
          <a:xfrm>
            <a:off x="4178808" y="164592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Seasonal naive</a:t>
            </a:r>
            <a:endParaRPr lang="en-US" sz="1800" dirty="0"/>
          </a:p>
        </p:txBody>
      </p:sp>
      <p:sp>
        <p:nvSpPr>
          <p:cNvPr id="15" name="Text 11"/>
          <p:cNvSpPr txBox="1"/>
          <p:nvPr/>
        </p:nvSpPr>
        <p:spPr>
          <a:xfrm>
            <a:off x="3493008"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PM2.5 in 6 hours = PM2.5 at the same hour yesterday</a:t>
            </a:r>
            <a:endParaRPr lang="en-US" sz="1400" dirty="0"/>
          </a:p>
        </p:txBody>
      </p:sp>
      <p:sp>
        <p:nvSpPr>
          <p:cNvPr id="16" name="Text 12"/>
          <p:cNvSpPr txBox="1"/>
          <p:nvPr/>
        </p:nvSpPr>
        <p:spPr>
          <a:xfrm>
            <a:off x="3493008" y="3291840"/>
            <a:ext cx="2194560" cy="685800"/>
          </a:xfrm>
          <a:prstGeom prst="rect">
            <a:avLst/>
          </a:prstGeom>
          <a:noFill/>
          <a:ln/>
        </p:spPr>
        <p:txBody>
          <a:bodyPr wrap="square" lIns="0" tIns="0" rIns="0" bIns="0" rtlCol="0" anchor="t"/>
          <a:lstStyle/>
          <a:p>
            <a:pPr indent="0" marL="0">
              <a:buNone/>
            </a:pPr>
            <a:r>
              <a:rPr lang="en-US" sz="1200" i="1" dirty="0">
                <a:solidFill>
                  <a:schemeClr val="accent2"/>
                </a:solidFill>
              </a:rPr>
              <a:t>Uses the daily cycle</a:t>
            </a:r>
            <a:endParaRPr lang="en-US" sz="1200" dirty="0"/>
          </a:p>
        </p:txBody>
      </p:sp>
      <p:sp>
        <p:nvSpPr>
          <p:cNvPr id="17" name="Model XGBoost"/>
          <p:cNvSpPr/>
          <p:nvPr/>
        </p:nvSpPr>
        <p:spPr>
          <a:xfrm>
            <a:off x="6071616" y="1188720"/>
            <a:ext cx="2615184" cy="2880360"/>
          </a:xfrm>
          <a:prstGeom prst="roundRect">
            <a:avLst>
              <a:gd name="adj" fmla="val 2797"/>
            </a:avLst>
          </a:prstGeom>
          <a:solidFill>
            <a:schemeClr val="tx2"/>
          </a:solidFill>
          <a:ln w="12700">
            <a:solidFill>
              <a:schemeClr val="tx2"/>
            </a:solidFill>
            <a:prstDash val="solid"/>
          </a:ln>
        </p:spPr>
      </p:sp>
      <p:sp>
        <p:nvSpPr>
          <p:cNvPr id="18" name="XGBoost circle"/>
          <p:cNvSpPr/>
          <p:nvPr/>
        </p:nvSpPr>
        <p:spPr>
          <a:xfrm>
            <a:off x="6300216" y="1371600"/>
            <a:ext cx="548640" cy="548640"/>
          </a:xfrm>
          <a:prstGeom prst="ellipse">
            <a:avLst/>
          </a:prstGeom>
          <a:solidFill>
            <a:srgbClr val="E07A2F"/>
          </a:solidFill>
          <a:ln w="12700">
            <a:solidFill>
              <a:srgbClr val="E07A2F"/>
            </a:solidFill>
            <a:prstDash val="solid"/>
          </a:ln>
        </p:spPr>
      </p:sp>
      <p:pic>
        <p:nvPicPr>
          <p:cNvPr id="19" name="XGBoost icon" descr="XGBoost">    </p:cNvPr>
          <p:cNvPicPr>
            <a:picLocks noChangeAspect="1"/>
          </p:cNvPicPr>
          <p:nvPr/>
        </p:nvPicPr>
        <p:blipFill>
          <a:blip r:embed="rId3"/>
          <a:stretch>
            <a:fillRect/>
          </a:stretch>
        </p:blipFill>
        <p:spPr>
          <a:xfrm>
            <a:off x="6437376" y="1508760"/>
            <a:ext cx="274320" cy="274320"/>
          </a:xfrm>
          <a:prstGeom prst="rect">
            <a:avLst/>
          </a:prstGeom>
        </p:spPr>
      </p:pic>
      <p:sp>
        <p:nvSpPr>
          <p:cNvPr id="20" name="Text 15"/>
          <p:cNvSpPr txBox="1"/>
          <p:nvPr/>
        </p:nvSpPr>
        <p:spPr>
          <a:xfrm>
            <a:off x="6986016" y="1417320"/>
            <a:ext cx="1554480"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OUR MODEL</a:t>
            </a:r>
            <a:endParaRPr lang="en-US" sz="1000" dirty="0"/>
          </a:p>
        </p:txBody>
      </p:sp>
      <p:sp>
        <p:nvSpPr>
          <p:cNvPr id="21" name="Text 16"/>
          <p:cNvSpPr txBox="1"/>
          <p:nvPr/>
        </p:nvSpPr>
        <p:spPr>
          <a:xfrm>
            <a:off x="6986016" y="1645920"/>
            <a:ext cx="1645920" cy="320040"/>
          </a:xfrm>
          <a:prstGeom prst="rect">
            <a:avLst/>
          </a:prstGeom>
          <a:noFill/>
          <a:ln/>
        </p:spPr>
        <p:txBody>
          <a:bodyPr wrap="square" lIns="0" tIns="0" rIns="0" bIns="0" rtlCol="0" anchor="ctr"/>
          <a:lstStyle/>
          <a:p>
            <a:pPr indent="0" marL="0">
              <a:buNone/>
            </a:pPr>
            <a:r>
              <a:rPr lang="en-US" sz="1800" b="1" dirty="0">
                <a:solidFill>
                  <a:schemeClr val="bg1"/>
                </a:solidFill>
              </a:rPr>
              <a:t>XGBoost</a:t>
            </a:r>
            <a:endParaRPr lang="en-US" sz="1800" dirty="0"/>
          </a:p>
        </p:txBody>
      </p:sp>
      <p:sp>
        <p:nvSpPr>
          <p:cNvPr id="22" name="Text 17"/>
          <p:cNvSpPr txBox="1"/>
          <p:nvPr/>
        </p:nvSpPr>
        <p:spPr>
          <a:xfrm>
            <a:off x="6300216" y="2194560"/>
            <a:ext cx="2194560" cy="1188720"/>
          </a:xfrm>
          <a:prstGeom prst="rect">
            <a:avLst/>
          </a:prstGeom>
          <a:noFill/>
          <a:ln/>
        </p:spPr>
        <p:txBody>
          <a:bodyPr wrap="square" lIns="0" tIns="0" rIns="0" bIns="0" rtlCol="0" anchor="t"/>
          <a:lstStyle/>
          <a:p>
            <a:pPr indent="0" marL="0">
              <a:buNone/>
            </a:pPr>
            <a:r>
              <a:rPr lang="en-US" sz="1400" dirty="0">
                <a:solidFill>
                  <a:schemeClr val="bg1"/>
                </a:solidFill>
              </a:rPr>
              <a:t>300 gradient-boosted trees, depth 6, learning rate 0.05, 80% row and column sampling</a:t>
            </a:r>
            <a:endParaRPr lang="en-US" sz="1400" dirty="0"/>
          </a:p>
        </p:txBody>
      </p:sp>
      <p:sp>
        <p:nvSpPr>
          <p:cNvPr id="23" name="Text 18"/>
          <p:cNvSpPr txBox="1"/>
          <p:nvPr/>
        </p:nvSpPr>
        <p:spPr>
          <a:xfrm>
            <a:off x="6300216" y="3291840"/>
            <a:ext cx="2194560" cy="685800"/>
          </a:xfrm>
          <a:prstGeom prst="rect">
            <a:avLst/>
          </a:prstGeom>
          <a:noFill/>
          <a:ln/>
        </p:spPr>
        <p:txBody>
          <a:bodyPr wrap="square" lIns="0" tIns="0" rIns="0" bIns="0" rtlCol="0" anchor="t"/>
          <a:lstStyle/>
          <a:p>
            <a:pPr indent="0" marL="0">
              <a:buNone/>
            </a:pPr>
            <a:r>
              <a:rPr lang="en-US" sz="1200" i="1" dirty="0">
                <a:solidFill>
                  <a:schemeClr val="bg2"/>
                </a:solidFill>
              </a:rPr>
              <a:t>Learns non-linear weather × time effects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XGBoost wins in every test period</a:t>
            </a:r>
            <a:endParaRPr lang="en-US" sz="3200" dirty="0"/>
          </a:p>
        </p:txBody>
      </p:sp>
      <p:graphicFrame>
        <p:nvGraphicFramePr>
          <p:cNvPr id="3" name="Chart MAE by fold" descr=""/>
          <p:cNvGraphicFramePr/>
          <p:nvPr/>
        </p:nvGraphicFramePr>
        <p:xfrm>
          <a:off x="45720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126480" y="1097280"/>
            <a:ext cx="2560320" cy="8229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12%</a:t>
            </a:r>
            <a:endParaRPr lang="en-US" sz="6000" dirty="0"/>
          </a:p>
        </p:txBody>
      </p:sp>
      <p:sp>
        <p:nvSpPr>
          <p:cNvPr id="5" name="Text 2"/>
          <p:cNvSpPr txBox="1"/>
          <p:nvPr/>
        </p:nvSpPr>
        <p:spPr>
          <a:xfrm>
            <a:off x="6126480" y="1920240"/>
            <a:ext cx="2560320" cy="457200"/>
          </a:xfrm>
          <a:prstGeom prst="rect">
            <a:avLst/>
          </a:prstGeom>
          <a:noFill/>
          <a:ln/>
        </p:spPr>
        <p:txBody>
          <a:bodyPr wrap="square" lIns="0" tIns="0" rIns="0" bIns="0" rtlCol="0" anchor="t"/>
          <a:lstStyle/>
          <a:p>
            <a:pPr indent="0" marL="0">
              <a:buNone/>
            </a:pPr>
            <a:r>
              <a:rPr lang="en-US" sz="1300" dirty="0">
                <a:solidFill>
                  <a:schemeClr val="tx1"/>
                </a:solidFill>
              </a:rPr>
              <a:t>lower error than persistence (average MAE)</a:t>
            </a:r>
            <a:endParaRPr lang="en-US" sz="1300" dirty="0"/>
          </a:p>
        </p:txBody>
      </p:sp>
      <p:graphicFrame>
        <p:nvGraphicFramePr>
          <p:cNvPr id="13" name="Results table"/>
          <p:cNvGraphicFramePr>
            <a:graphicFrameLocks noGrp="1"/>
          </p:cNvGraphicFramePr>
          <p:nvPr>
            <p:extLst>
              <p:ext uri="{D42A27DB-BD31-4B8C-83A1-F6EECF244321}">
                <p14:modId xmlns:p14="http://schemas.microsoft.com/office/powerpoint/2010/main" val="1579011935"/>
              </p:ext>
            </p:extLst>
          </p:nvPr>
        </p:nvGraphicFramePr>
        <p:xfrm>
          <a:off x="6126480" y="2560320"/>
          <a:ext cx="2560320" cy="914400"/>
        </p:xfrm>
        <a:graphic>
          <a:graphicData uri="http://schemas.openxmlformats.org/drawingml/2006/table">
            <a:tbl>
              <a:tblPr/>
              <a:tblGrid>
                <a:gridCol w="1280160"/>
                <a:gridCol w="640080"/>
                <a:gridCol w="640080"/>
              </a:tblGrid>
              <a:tr h="329184">
                <a:tc>
                  <a:txBody>
                    <a:bodyPr/>
                    <a:lstStyle/>
                    <a:p>
                      <a:pPr indent="0" marL="0">
                        <a:buNone/>
                      </a:pPr>
                      <a:r>
                        <a:rPr lang="en-US" sz="1200" b="1" dirty="0">
                          <a:solidFill>
                            <a:schemeClr val="tx2"/>
                          </a:solidFill>
                        </a:rPr>
                        <a:t>Average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rPr>
                        <a:t>MAE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rPr>
                        <a:t>R²</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rPr>
                        <a:t>Seasonal naive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71.8</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-0.22</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r>
              <a:tr h="329184">
                <a:tc>
                  <a:txBody>
                    <a:bodyPr/>
                    <a:lstStyle/>
                    <a:p>
                      <a:pPr indent="0" marL="0">
                        <a:buNone/>
                      </a:pPr>
                      <a:r>
                        <a:rPr lang="en-US" sz="1200" dirty="0">
                          <a:solidFill>
                            <a:schemeClr val="tx1"/>
                          </a:solidFill>
                        </a:rPr>
                        <a:t>Persistence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40.7</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0.52</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r>
              <a:tr h="329184">
                <a:tc>
                  <a:txBody>
                    <a:bodyPr/>
                    <a:lstStyle/>
                    <a:p>
                      <a:pPr indent="0" marL="0">
                        <a:buNone/>
                      </a:pPr>
                      <a:r>
                        <a:rPr lang="en-US" sz="1200" b="1" dirty="0">
                          <a:solidFill>
                            <a:schemeClr val="tx1"/>
                          </a:solidFill>
                        </a:rPr>
                        <a:t>XGBoost</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b="1" dirty="0">
                          <a:solidFill>
                            <a:schemeClr val="tx1"/>
                          </a:solidFill>
                        </a:rPr>
                        <a:t>35.8</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b="1" dirty="0">
                          <a:solidFill>
                            <a:schemeClr val="tx1"/>
                          </a:solidFill>
                        </a:rPr>
                        <a:t>0.65</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r>
            </a:tbl>
          </a:graphicData>
        </a:graphic>
      </p:graphicFrame>
      <p:sp>
        <p:nvSpPr>
          <p:cNvPr id="7" name="Text 3"/>
          <p:cNvSpPr txBox="1"/>
          <p:nvPr/>
        </p:nvSpPr>
        <p:spPr>
          <a:xfrm>
            <a:off x="6126480" y="4023360"/>
            <a:ext cx="2560320" cy="548640"/>
          </a:xfrm>
          <a:prstGeom prst="rect">
            <a:avLst/>
          </a:prstGeom>
          <a:noFill/>
          <a:ln/>
        </p:spPr>
        <p:txBody>
          <a:bodyPr wrap="square" lIns="0" tIns="0" rIns="0" bIns="0" rtlCol="0" anchor="t"/>
          <a:lstStyle/>
          <a:p>
            <a:pPr indent="0" marL="0">
              <a:buNone/>
            </a:pPr>
            <a:r>
              <a:rPr lang="en-US" sz="1200" dirty="0">
                <a:solidFill>
                  <a:schemeClr val="accent2"/>
                </a:solidFill>
              </a:rPr>
              <a:t>AQI category correct: XGBoost 53.9% vs persistence 49.8%</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Forecasts track real pollution</a:t>
            </a:r>
            <a:endParaRPr lang="en-US" sz="3200" dirty="0"/>
          </a:p>
        </p:txBody>
      </p:sp>
      <p:graphicFrame>
        <p:nvGraphicFramePr>
          <p:cNvPr id="3" name="Chart forecast week" descr=""/>
          <p:cNvGraphicFramePr/>
          <p:nvPr/>
        </p:nvGraphicFramePr>
        <p:xfrm>
          <a:off x="457200" y="1051560"/>
          <a:ext cx="822960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Read it: </a:t>
            </a:r>
            <a:pPr indent="0" marL="0">
              <a:buNone/>
            </a:pPr>
            <a:r>
              <a:rPr lang="en-US" sz="1400" dirty="0">
                <a:solidFill>
                  <a:schemeClr val="tx1"/>
                </a:solidFill>
              </a:rPr>
              <a:t>persistence always arrives 6 hours late. XGBoost often turns earlier, but sudden spikes remain hard to predict.</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What drives the model</a:t>
            </a:r>
            <a:endParaRPr lang="en-US" sz="3200" dirty="0"/>
          </a:p>
        </p:txBody>
      </p:sp>
      <p:graphicFrame>
        <p:nvGraphicFramePr>
          <p:cNvPr id="3" name="Chart importance" descr=""/>
          <p:cNvGraphicFramePr/>
          <p:nvPr/>
        </p:nvGraphicFramePr>
        <p:xfrm>
          <a:off x="457200" y="1097280"/>
          <a:ext cx="4480560" cy="3474720"/>
        </p:xfrm>
        <a:graphic xmlns:a="http://schemas.openxmlformats.org/drawingml/2006/main">
          <a:graphicData uri="http://schemas.openxmlformats.org/drawingml/2006/chart">
            <c:chart xmlns:c="http://schemas.openxmlformats.org/drawingml/2006/chart" r:id="rId1"/>
          </a:graphicData>
        </a:graphic>
      </p:graphicFrame>
      <p:sp>
        <p:nvSpPr>
          <p:cNvPr id="4" name="Current PM2.5 · 30% circle"/>
          <p:cNvSpPr/>
          <p:nvPr/>
        </p:nvSpPr>
        <p:spPr>
          <a:xfrm>
            <a:off x="5303520" y="1188720"/>
            <a:ext cx="457200" cy="457200"/>
          </a:xfrm>
          <a:prstGeom prst="ellipse">
            <a:avLst/>
          </a:prstGeom>
          <a:solidFill>
            <a:srgbClr val="16384A"/>
          </a:solidFill>
          <a:ln w="12700">
            <a:solidFill>
              <a:srgbClr val="16384A"/>
            </a:solidFill>
            <a:prstDash val="solid"/>
          </a:ln>
        </p:spPr>
      </p:sp>
      <p:pic>
        <p:nvPicPr>
          <p:cNvPr id="5" name="Current PM2.5 · 30% icon" descr="Current PM2.5 · 30%">    </p:cNvPr>
          <p:cNvPicPr>
            <a:picLocks noChangeAspect="1"/>
          </p:cNvPicPr>
          <p:nvPr/>
        </p:nvPicPr>
        <p:blipFill>
          <a:blip r:embed="rId2"/>
          <a:stretch>
            <a:fillRect/>
          </a:stretch>
        </p:blipFill>
        <p:spPr>
          <a:xfrm>
            <a:off x="5417820" y="1303020"/>
            <a:ext cx="228600" cy="228600"/>
          </a:xfrm>
          <a:prstGeom prst="rect">
            <a:avLst/>
          </a:prstGeom>
        </p:spPr>
      </p:pic>
      <p:sp>
        <p:nvSpPr>
          <p:cNvPr id="6" name="Text 2"/>
          <p:cNvSpPr txBox="1"/>
          <p:nvPr/>
        </p:nvSpPr>
        <p:spPr>
          <a:xfrm>
            <a:off x="5897880" y="1170432"/>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Current PM2.5 · 30%</a:t>
            </a:r>
            <a:endParaRPr lang="en-US" sz="1400" dirty="0"/>
          </a:p>
        </p:txBody>
      </p:sp>
      <p:sp>
        <p:nvSpPr>
          <p:cNvPr id="7" name="Text 3"/>
          <p:cNvSpPr txBox="1"/>
          <p:nvPr/>
        </p:nvSpPr>
        <p:spPr>
          <a:xfrm>
            <a:off x="5897880" y="1444752"/>
            <a:ext cx="2788920" cy="320040"/>
          </a:xfrm>
          <a:prstGeom prst="rect">
            <a:avLst/>
          </a:prstGeom>
          <a:noFill/>
          <a:ln/>
        </p:spPr>
        <p:txBody>
          <a:bodyPr wrap="square" lIns="0" tIns="0" rIns="0" bIns="0" rtlCol="0" anchor="ctr"/>
          <a:lstStyle/>
          <a:p>
            <a:pPr indent="0" marL="0">
              <a:buNone/>
            </a:pPr>
            <a:r>
              <a:rPr lang="en-US" sz="1300" dirty="0">
                <a:solidFill>
                  <a:schemeClr val="tx1"/>
                </a:solidFill>
              </a:rPr>
              <a:t>Pollution now is the best single clue.</a:t>
            </a:r>
            <a:endParaRPr lang="en-US" sz="1300" dirty="0"/>
          </a:p>
        </p:txBody>
      </p:sp>
      <p:sp>
        <p:nvSpPr>
          <p:cNvPr id="8" name="Calendar · 20% circle"/>
          <p:cNvSpPr/>
          <p:nvPr/>
        </p:nvSpPr>
        <p:spPr>
          <a:xfrm>
            <a:off x="5303520" y="2029968"/>
            <a:ext cx="457200" cy="457200"/>
          </a:xfrm>
          <a:prstGeom prst="ellipse">
            <a:avLst/>
          </a:prstGeom>
          <a:solidFill>
            <a:srgbClr val="16384A"/>
          </a:solidFill>
          <a:ln w="12700">
            <a:solidFill>
              <a:srgbClr val="16384A"/>
            </a:solidFill>
            <a:prstDash val="solid"/>
          </a:ln>
        </p:spPr>
      </p:sp>
      <p:pic>
        <p:nvPicPr>
          <p:cNvPr id="9" name="Calendar · 20% icon" descr="Calendar · 20%">    </p:cNvPr>
          <p:cNvPicPr>
            <a:picLocks noChangeAspect="1"/>
          </p:cNvPicPr>
          <p:nvPr/>
        </p:nvPicPr>
        <p:blipFill>
          <a:blip r:embed="rId3"/>
          <a:stretch>
            <a:fillRect/>
          </a:stretch>
        </p:blipFill>
        <p:spPr>
          <a:xfrm>
            <a:off x="5417820" y="2144268"/>
            <a:ext cx="228600" cy="228600"/>
          </a:xfrm>
          <a:prstGeom prst="rect">
            <a:avLst/>
          </a:prstGeom>
        </p:spPr>
      </p:pic>
      <p:sp>
        <p:nvSpPr>
          <p:cNvPr id="10" name="Text 5"/>
          <p:cNvSpPr txBox="1"/>
          <p:nvPr/>
        </p:nvSpPr>
        <p:spPr>
          <a:xfrm>
            <a:off x="5897880" y="2011680"/>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Calendar · 20%</a:t>
            </a:r>
            <a:endParaRPr lang="en-US" sz="1400" dirty="0"/>
          </a:p>
        </p:txBody>
      </p:sp>
      <p:sp>
        <p:nvSpPr>
          <p:cNvPr id="11" name="Text 6"/>
          <p:cNvSpPr txBox="1"/>
          <p:nvPr/>
        </p:nvSpPr>
        <p:spPr>
          <a:xfrm>
            <a:off x="5897880" y="2286000"/>
            <a:ext cx="2788920" cy="320040"/>
          </a:xfrm>
          <a:prstGeom prst="rect">
            <a:avLst/>
          </a:prstGeom>
          <a:noFill/>
          <a:ln/>
        </p:spPr>
        <p:txBody>
          <a:bodyPr wrap="square" lIns="0" tIns="0" rIns="0" bIns="0" rtlCol="0" anchor="ctr"/>
          <a:lstStyle/>
          <a:p>
            <a:pPr indent="0" marL="0">
              <a:buNone/>
            </a:pPr>
            <a:r>
              <a:rPr lang="en-US" sz="1300" dirty="0">
                <a:solidFill>
                  <a:schemeClr val="tx1"/>
                </a:solidFill>
              </a:rPr>
              <a:t>Night and winter peaks matter.</a:t>
            </a:r>
            <a:endParaRPr lang="en-US" sz="1300" dirty="0"/>
          </a:p>
        </p:txBody>
      </p:sp>
      <p:sp>
        <p:nvSpPr>
          <p:cNvPr id="12" name="Wind and weather · 32% circle"/>
          <p:cNvSpPr/>
          <p:nvPr/>
        </p:nvSpPr>
        <p:spPr>
          <a:xfrm>
            <a:off x="5303520" y="2871216"/>
            <a:ext cx="457200" cy="457200"/>
          </a:xfrm>
          <a:prstGeom prst="ellipse">
            <a:avLst/>
          </a:prstGeom>
          <a:solidFill>
            <a:srgbClr val="16384A"/>
          </a:solidFill>
          <a:ln w="12700">
            <a:solidFill>
              <a:srgbClr val="16384A"/>
            </a:solidFill>
            <a:prstDash val="solid"/>
          </a:ln>
        </p:spPr>
      </p:sp>
      <p:pic>
        <p:nvPicPr>
          <p:cNvPr id="13" name="Wind and weather · 32% icon" descr="Wind and weather · 32%">    </p:cNvPr>
          <p:cNvPicPr>
            <a:picLocks noChangeAspect="1"/>
          </p:cNvPicPr>
          <p:nvPr/>
        </p:nvPicPr>
        <p:blipFill>
          <a:blip r:embed="rId4"/>
          <a:stretch>
            <a:fillRect/>
          </a:stretch>
        </p:blipFill>
        <p:spPr>
          <a:xfrm>
            <a:off x="5417820" y="2985516"/>
            <a:ext cx="228600" cy="228600"/>
          </a:xfrm>
          <a:prstGeom prst="rect">
            <a:avLst/>
          </a:prstGeom>
        </p:spPr>
      </p:pic>
      <p:sp>
        <p:nvSpPr>
          <p:cNvPr id="14" name="Text 8"/>
          <p:cNvSpPr txBox="1"/>
          <p:nvPr/>
        </p:nvSpPr>
        <p:spPr>
          <a:xfrm>
            <a:off x="5897880" y="2852928"/>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Wind and weather · 32%</a:t>
            </a:r>
            <a:endParaRPr lang="en-US" sz="1400" dirty="0"/>
          </a:p>
        </p:txBody>
      </p:sp>
      <p:sp>
        <p:nvSpPr>
          <p:cNvPr id="15" name="Text 9"/>
          <p:cNvSpPr txBox="1"/>
          <p:nvPr/>
        </p:nvSpPr>
        <p:spPr>
          <a:xfrm>
            <a:off x="5897880" y="3127248"/>
            <a:ext cx="2788920" cy="320040"/>
          </a:xfrm>
          <a:prstGeom prst="rect">
            <a:avLst/>
          </a:prstGeom>
          <a:noFill/>
          <a:ln/>
        </p:spPr>
        <p:txBody>
          <a:bodyPr wrap="square" lIns="0" tIns="0" rIns="0" bIns="0" rtlCol="0" anchor="ctr"/>
          <a:lstStyle/>
          <a:p>
            <a:pPr indent="0" marL="0">
              <a:buNone/>
            </a:pPr>
            <a:r>
              <a:rPr lang="en-US" sz="1300" dirty="0">
                <a:solidFill>
                  <a:schemeClr val="tx1"/>
                </a:solidFill>
              </a:rPr>
              <a:t>Northwest wind clears the air.</a:t>
            </a:r>
            <a:endParaRPr lang="en-US" sz="1300" dirty="0"/>
          </a:p>
        </p:txBody>
      </p:sp>
      <p:sp>
        <p:nvSpPr>
          <p:cNvPr id="16" name="Lags · only 12% circle"/>
          <p:cNvSpPr/>
          <p:nvPr/>
        </p:nvSpPr>
        <p:spPr>
          <a:xfrm>
            <a:off x="5303520" y="3712464"/>
            <a:ext cx="457200" cy="457200"/>
          </a:xfrm>
          <a:prstGeom prst="ellipse">
            <a:avLst/>
          </a:prstGeom>
          <a:solidFill>
            <a:srgbClr val="E07A2F"/>
          </a:solidFill>
          <a:ln w="12700">
            <a:solidFill>
              <a:srgbClr val="E07A2F"/>
            </a:solidFill>
            <a:prstDash val="solid"/>
          </a:ln>
        </p:spPr>
      </p:sp>
      <p:pic>
        <p:nvPicPr>
          <p:cNvPr id="17" name="Lags · only 12% icon" descr="Lags · only 12%">    </p:cNvPr>
          <p:cNvPicPr>
            <a:picLocks noChangeAspect="1"/>
          </p:cNvPicPr>
          <p:nvPr/>
        </p:nvPicPr>
        <p:blipFill>
          <a:blip r:embed="rId5"/>
          <a:stretch>
            <a:fillRect/>
          </a:stretch>
        </p:blipFill>
        <p:spPr>
          <a:xfrm>
            <a:off x="5417820" y="3826764"/>
            <a:ext cx="228600" cy="228600"/>
          </a:xfrm>
          <a:prstGeom prst="rect">
            <a:avLst/>
          </a:prstGeom>
        </p:spPr>
      </p:pic>
      <p:sp>
        <p:nvSpPr>
          <p:cNvPr id="18" name="Text 11"/>
          <p:cNvSpPr txBox="1"/>
          <p:nvPr/>
        </p:nvSpPr>
        <p:spPr>
          <a:xfrm>
            <a:off x="5897880" y="3694176"/>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Lags · only 12%</a:t>
            </a:r>
            <a:endParaRPr lang="en-US" sz="1400" dirty="0"/>
          </a:p>
        </p:txBody>
      </p:sp>
      <p:sp>
        <p:nvSpPr>
          <p:cNvPr id="19" name="Text 12"/>
          <p:cNvSpPr txBox="1"/>
          <p:nvPr/>
        </p:nvSpPr>
        <p:spPr>
          <a:xfrm>
            <a:off x="5897880" y="3968496"/>
            <a:ext cx="2788920" cy="320040"/>
          </a:xfrm>
          <a:prstGeom prst="rect">
            <a:avLst/>
          </a:prstGeom>
          <a:noFill/>
          <a:ln/>
        </p:spPr>
        <p:txBody>
          <a:bodyPr wrap="square" lIns="0" tIns="0" rIns="0" bIns="0" rtlCol="0" anchor="ctr"/>
          <a:lstStyle/>
          <a:p>
            <a:pPr indent="0" marL="0">
              <a:buNone/>
            </a:pPr>
            <a:r>
              <a:rPr lang="en-US" sz="1300" dirty="0">
                <a:solidFill>
                  <a:schemeClr val="tx1"/>
                </a:solidFill>
              </a:rPr>
              <a:t>Room for a sequence model (LSTM).</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Limitations and next steps</a:t>
            </a:r>
            <a:endParaRPr lang="en-US" sz="3200" dirty="0"/>
          </a:p>
        </p:txBody>
      </p:sp>
      <p:sp>
        <p:nvSpPr>
          <p:cNvPr id="3" name="Limitations card"/>
          <p:cNvSpPr/>
          <p:nvPr/>
        </p:nvSpPr>
        <p:spPr>
          <a:xfrm>
            <a:off x="457200" y="1188720"/>
            <a:ext cx="3977640" cy="2926080"/>
          </a:xfrm>
          <a:prstGeom prst="roundRect">
            <a:avLst>
              <a:gd name="adj" fmla="val 2500"/>
            </a:avLst>
          </a:prstGeom>
          <a:solidFill>
            <a:schemeClr val="bg2"/>
          </a:solidFill>
          <a:ln w="12700">
            <a:solidFill>
              <a:schemeClr val="bg2"/>
            </a:solidFill>
            <a:prstDash val="solid"/>
          </a:ln>
        </p:spPr>
      </p:sp>
      <p:sp>
        <p:nvSpPr>
          <p:cNvPr id="4" name="Limitations circle"/>
          <p:cNvSpPr/>
          <p:nvPr/>
        </p:nvSpPr>
        <p:spPr>
          <a:xfrm>
            <a:off x="685800" y="1371600"/>
            <a:ext cx="457200" cy="457200"/>
          </a:xfrm>
          <a:prstGeom prst="ellipse">
            <a:avLst/>
          </a:prstGeom>
          <a:solidFill>
            <a:srgbClr val="B23A48"/>
          </a:solidFill>
          <a:ln w="12700">
            <a:solidFill>
              <a:srgbClr val="B23A48"/>
            </a:solidFill>
            <a:prstDash val="solid"/>
          </a:ln>
        </p:spPr>
      </p:sp>
      <p:pic>
        <p:nvPicPr>
          <p:cNvPr id="5" name="Limitations icon" descr="Limitations">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280160" y="1417320"/>
            <a:ext cx="2743200" cy="365760"/>
          </a:xfrm>
          <a:prstGeom prst="rect">
            <a:avLst/>
          </a:prstGeom>
          <a:noFill/>
          <a:ln/>
        </p:spPr>
        <p:txBody>
          <a:bodyPr wrap="square" lIns="0" tIns="0" rIns="0" bIns="0" rtlCol="0" anchor="ctr"/>
          <a:lstStyle/>
          <a:p>
            <a:pPr indent="0" marL="0">
              <a:buNone/>
            </a:pPr>
            <a:r>
              <a:rPr lang="en-US" sz="1800" b="1" dirty="0">
                <a:solidFill>
                  <a:schemeClr val="tx2"/>
                </a:solidFill>
              </a:rPr>
              <a:t>Limitations</a:t>
            </a:r>
            <a:endParaRPr lang="en-US" sz="1800" dirty="0"/>
          </a:p>
        </p:txBody>
      </p:sp>
      <p:sp>
        <p:nvSpPr>
          <p:cNvPr id="7" name="Text 4"/>
          <p:cNvSpPr txBox="1"/>
          <p:nvPr/>
        </p:nvSpPr>
        <p:spPr>
          <a:xfrm>
            <a:off x="685800" y="196596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Sudden spikes have no early warning in 6 hours of history</a:t>
            </a:r>
            <a:endParaRPr lang="en-US" sz="1400" dirty="0"/>
          </a:p>
          <a:p>
            <a:pPr marL="342900" indent="-342900">
              <a:spcAft>
                <a:spcPts val="800"/>
              </a:spcAft>
              <a:buSzPct val="100000"/>
              <a:buChar char="•"/>
            </a:pPr>
            <a:r>
              <a:rPr lang="en-US" sz="1400" dirty="0">
                <a:solidFill>
                  <a:schemeClr val="tx1"/>
                </a:solidFill>
              </a:rPr>
              <a:t>Lags are hand-picked and stop at 24 hours</a:t>
            </a:r>
            <a:endParaRPr lang="en-US" sz="1400" dirty="0"/>
          </a:p>
          <a:p>
            <a:pPr marL="342900" indent="-342900">
              <a:spcAft>
                <a:spcPts val="800"/>
              </a:spcAft>
              <a:buSzPct val="100000"/>
              <a:buChar char="•"/>
            </a:pPr>
            <a:r>
              <a:rPr lang="en-US" sz="1400" dirty="0">
                <a:solidFill>
                  <a:schemeClr val="tx1"/>
                </a:solidFill>
              </a:rPr>
              <a:t>One station, 2010–2014 only</a:t>
            </a:r>
            <a:endParaRPr lang="en-US" sz="1400" dirty="0"/>
          </a:p>
          <a:p>
            <a:pPr marL="342900" indent="-342900">
              <a:spcAft>
                <a:spcPts val="800"/>
              </a:spcAft>
              <a:buSzPct val="100000"/>
              <a:buChar char="•"/>
            </a:pPr>
            <a:r>
              <a:rPr lang="en-US" sz="1400" dirty="0">
                <a:solidFill>
                  <a:schemeClr val="tx1"/>
                </a:solidFill>
              </a:rPr>
              <a:t>24-hour AQI breakpoints applied to hourly values</a:t>
            </a:r>
            <a:endParaRPr lang="en-US" sz="1400" dirty="0"/>
          </a:p>
        </p:txBody>
      </p:sp>
      <p:sp>
        <p:nvSpPr>
          <p:cNvPr id="8" name="Next steps card"/>
          <p:cNvSpPr/>
          <p:nvPr/>
        </p:nvSpPr>
        <p:spPr>
          <a:xfrm>
            <a:off x="4709160" y="1188720"/>
            <a:ext cx="3977640" cy="2926080"/>
          </a:xfrm>
          <a:prstGeom prst="roundRect">
            <a:avLst>
              <a:gd name="adj" fmla="val 2500"/>
            </a:avLst>
          </a:prstGeom>
          <a:solidFill>
            <a:schemeClr val="bg2"/>
          </a:solidFill>
          <a:ln w="12700">
            <a:solidFill>
              <a:schemeClr val="bg2"/>
            </a:solidFill>
            <a:prstDash val="solid"/>
          </a:ln>
        </p:spPr>
      </p:sp>
      <p:sp>
        <p:nvSpPr>
          <p:cNvPr id="9" name="Next steps circle"/>
          <p:cNvSpPr/>
          <p:nvPr/>
        </p:nvSpPr>
        <p:spPr>
          <a:xfrm>
            <a:off x="4937760" y="1371600"/>
            <a:ext cx="457200" cy="457200"/>
          </a:xfrm>
          <a:prstGeom prst="ellipse">
            <a:avLst/>
          </a:prstGeom>
          <a:solidFill>
            <a:srgbClr val="2E8B57"/>
          </a:solidFill>
          <a:ln w="12700">
            <a:solidFill>
              <a:srgbClr val="2E8B57"/>
            </a:solidFill>
            <a:prstDash val="solid"/>
          </a:ln>
        </p:spPr>
      </p:sp>
      <p:pic>
        <p:nvPicPr>
          <p:cNvPr id="10" name="Next steps icon" descr="Next steps">    </p:cNvPr>
          <p:cNvPicPr>
            <a:picLocks noChangeAspect="1"/>
          </p:cNvPicPr>
          <p:nvPr/>
        </p:nvPicPr>
        <p:blipFill>
          <a:blip r:embed="rId2"/>
          <a:stretch>
            <a:fillRect/>
          </a:stretch>
        </p:blipFill>
        <p:spPr>
          <a:xfrm>
            <a:off x="5052060" y="1485900"/>
            <a:ext cx="228600" cy="228600"/>
          </a:xfrm>
          <a:prstGeom prst="rect">
            <a:avLst/>
          </a:prstGeom>
        </p:spPr>
      </p:pic>
      <p:sp>
        <p:nvSpPr>
          <p:cNvPr id="11" name="Text 7"/>
          <p:cNvSpPr txBox="1"/>
          <p:nvPr/>
        </p:nvSpPr>
        <p:spPr>
          <a:xfrm>
            <a:off x="5532120" y="1417320"/>
            <a:ext cx="2743200" cy="365760"/>
          </a:xfrm>
          <a:prstGeom prst="rect">
            <a:avLst/>
          </a:prstGeom>
          <a:noFill/>
          <a:ln/>
        </p:spPr>
        <p:txBody>
          <a:bodyPr wrap="square" lIns="0" tIns="0" rIns="0" bIns="0" rtlCol="0" anchor="ctr"/>
          <a:lstStyle/>
          <a:p>
            <a:pPr indent="0" marL="0">
              <a:buNone/>
            </a:pPr>
            <a:r>
              <a:rPr lang="en-US" sz="1800" b="1" dirty="0">
                <a:solidFill>
                  <a:schemeClr val="tx2"/>
                </a:solidFill>
              </a:rPr>
              <a:t>Next steps</a:t>
            </a:r>
            <a:endParaRPr lang="en-US" sz="1800" dirty="0"/>
          </a:p>
        </p:txBody>
      </p:sp>
      <p:sp>
        <p:nvSpPr>
          <p:cNvPr id="12" name="Text 8"/>
          <p:cNvSpPr txBox="1"/>
          <p:nvPr/>
        </p:nvSpPr>
        <p:spPr>
          <a:xfrm>
            <a:off x="4937760" y="196596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LSTM on the last 48 raw hours</a:t>
            </a:r>
            <a:endParaRPr lang="en-US" sz="1400" dirty="0"/>
          </a:p>
          <a:p>
            <a:pPr marL="342900" indent="-342900">
              <a:spcAft>
                <a:spcPts val="800"/>
              </a:spcAft>
              <a:buSzPct val="100000"/>
              <a:buChar char="•"/>
            </a:pPr>
            <a:r>
              <a:rPr lang="en-US" sz="1400" dirty="0">
                <a:solidFill>
                  <a:schemeClr val="tx1"/>
                </a:solidFill>
              </a:rPr>
              <a:t>Add weather forecasts and nearby stations</a:t>
            </a:r>
            <a:endParaRPr lang="en-US" sz="1400" dirty="0"/>
          </a:p>
          <a:p>
            <a:pPr marL="342900" indent="-342900">
              <a:spcAft>
                <a:spcPts val="800"/>
              </a:spcAft>
              <a:buSzPct val="100000"/>
              <a:buChar char="•"/>
            </a:pPr>
            <a:r>
              <a:rPr lang="en-US" sz="1400" dirty="0">
                <a:solidFill>
                  <a:schemeClr val="tx1"/>
                </a:solidFill>
              </a:rPr>
              <a:t>Tune on a time-ordered validation split</a:t>
            </a:r>
            <a:endParaRPr lang="en-US" sz="1400" dirty="0"/>
          </a:p>
          <a:p>
            <a:pPr marL="342900" indent="-342900">
              <a:spcAft>
                <a:spcPts val="800"/>
              </a:spcAft>
              <a:buSzPct val="100000"/>
              <a:buChar char="•"/>
            </a:pPr>
            <a:r>
              <a:rPr lang="en-US" sz="1400" dirty="0">
                <a:solidFill>
                  <a:schemeClr val="tx1"/>
                </a:solidFill>
              </a:rPr>
              <a:t>Forecast 24-hour averages for a standard AQI</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bg1"/>
                </a:solidFill>
              </a:rPr>
              <a:t>Key takeaways</a:t>
            </a:r>
            <a:endParaRPr lang="en-US" sz="3200" dirty="0"/>
          </a:p>
        </p:txBody>
      </p:sp>
      <p:sp>
        <p:nvSpPr>
          <p:cNvPr id="3" name="Text 1"/>
          <p:cNvSpPr txBox="1"/>
          <p:nvPr/>
        </p:nvSpPr>
        <p:spPr>
          <a:xfrm>
            <a:off x="457200" y="1280160"/>
            <a:ext cx="26060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12%</a:t>
            </a:r>
            <a:endParaRPr lang="en-US" sz="4800" dirty="0"/>
          </a:p>
        </p:txBody>
      </p:sp>
      <p:sp>
        <p:nvSpPr>
          <p:cNvPr id="4" name="Text 2"/>
          <p:cNvSpPr txBox="1"/>
          <p:nvPr/>
        </p:nvSpPr>
        <p:spPr>
          <a:xfrm>
            <a:off x="457200" y="2194560"/>
            <a:ext cx="2514600" cy="822960"/>
          </a:xfrm>
          <a:prstGeom prst="rect">
            <a:avLst/>
          </a:prstGeom>
          <a:noFill/>
          <a:ln/>
        </p:spPr>
        <p:txBody>
          <a:bodyPr wrap="square" lIns="0" tIns="0" rIns="0" bIns="0" rtlCol="0" anchor="t"/>
          <a:lstStyle/>
          <a:p>
            <a:pPr indent="0" marL="0">
              <a:buNone/>
            </a:pPr>
            <a:r>
              <a:rPr lang="en-US" sz="1500" dirty="0">
                <a:solidFill>
                  <a:schemeClr val="bg1"/>
                </a:solidFill>
              </a:rPr>
              <a:t>lower error than persistence (MAE 35.8 vs 40.7 µg/m³)</a:t>
            </a:r>
            <a:endParaRPr lang="en-US" sz="1500" dirty="0"/>
          </a:p>
        </p:txBody>
      </p:sp>
      <p:sp>
        <p:nvSpPr>
          <p:cNvPr id="5" name="Text 3"/>
          <p:cNvSpPr txBox="1"/>
          <p:nvPr/>
        </p:nvSpPr>
        <p:spPr>
          <a:xfrm>
            <a:off x="3264408" y="1280160"/>
            <a:ext cx="26060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 / 4</a:t>
            </a:r>
            <a:endParaRPr lang="en-US" sz="4800" dirty="0"/>
          </a:p>
        </p:txBody>
      </p:sp>
      <p:sp>
        <p:nvSpPr>
          <p:cNvPr id="6" name="Text 4"/>
          <p:cNvSpPr txBox="1"/>
          <p:nvPr/>
        </p:nvSpPr>
        <p:spPr>
          <a:xfrm>
            <a:off x="3264408" y="2194560"/>
            <a:ext cx="2514600" cy="822960"/>
          </a:xfrm>
          <a:prstGeom prst="rect">
            <a:avLst/>
          </a:prstGeom>
          <a:noFill/>
          <a:ln/>
        </p:spPr>
        <p:txBody>
          <a:bodyPr wrap="square" lIns="0" tIns="0" rIns="0" bIns="0" rtlCol="0" anchor="t"/>
          <a:lstStyle/>
          <a:p>
            <a:pPr indent="0" marL="0">
              <a:buNone/>
            </a:pPr>
            <a:r>
              <a:rPr lang="en-US" sz="1500" dirty="0">
                <a:solidFill>
                  <a:schemeClr val="bg1"/>
                </a:solidFill>
              </a:rPr>
              <a:t>test periods won by XGBoost under a fair, future-only backtest</a:t>
            </a:r>
            <a:endParaRPr lang="en-US" sz="1500" dirty="0"/>
          </a:p>
        </p:txBody>
      </p:sp>
      <p:sp>
        <p:nvSpPr>
          <p:cNvPr id="7" name="Text 5"/>
          <p:cNvSpPr txBox="1"/>
          <p:nvPr/>
        </p:nvSpPr>
        <p:spPr>
          <a:xfrm>
            <a:off x="6071616" y="1280160"/>
            <a:ext cx="26060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 / 10</a:t>
            </a:r>
            <a:endParaRPr lang="en-US" sz="4800" dirty="0"/>
          </a:p>
        </p:txBody>
      </p:sp>
      <p:sp>
        <p:nvSpPr>
          <p:cNvPr id="8" name="Text 6"/>
          <p:cNvSpPr txBox="1"/>
          <p:nvPr/>
        </p:nvSpPr>
        <p:spPr>
          <a:xfrm>
            <a:off x="6071616" y="2194560"/>
            <a:ext cx="2514600" cy="822960"/>
          </a:xfrm>
          <a:prstGeom prst="rect">
            <a:avLst/>
          </a:prstGeom>
          <a:noFill/>
          <a:ln/>
        </p:spPr>
        <p:txBody>
          <a:bodyPr wrap="square" lIns="0" tIns="0" rIns="0" bIns="0" rtlCol="0" anchor="t"/>
          <a:lstStyle/>
          <a:p>
            <a:pPr indent="0" marL="0">
              <a:buNone/>
            </a:pPr>
            <a:r>
              <a:rPr lang="en-US" sz="1500" dirty="0">
                <a:solidFill>
                  <a:schemeClr val="bg1"/>
                </a:solidFill>
              </a:rPr>
              <a:t>automated tests pass; 6 notebooks and 14 figures regenerate every number</a:t>
            </a:r>
            <a:endParaRPr lang="en-US" sz="1500" dirty="0"/>
          </a:p>
        </p:txBody>
      </p:sp>
      <p:sp>
        <p:nvSpPr>
          <p:cNvPr id="9" name="GitHub circle"/>
          <p:cNvSpPr/>
          <p:nvPr/>
        </p:nvSpPr>
        <p:spPr>
          <a:xfrm>
            <a:off x="457200" y="3520440"/>
            <a:ext cx="457200" cy="457200"/>
          </a:xfrm>
          <a:prstGeom prst="ellipse">
            <a:avLst/>
          </a:prstGeom>
          <a:solidFill>
            <a:srgbClr val="FFFFFF"/>
          </a:solidFill>
          <a:ln w="12700">
            <a:solidFill>
              <a:srgbClr val="FFFFFF"/>
            </a:solidFill>
            <a:prstDash val="solid"/>
          </a:ln>
        </p:spPr>
      </p:sp>
      <p:pic>
        <p:nvPicPr>
          <p:cNvPr id="10" name="GitHub icon" descr="GitHub">    </p:cNvPr>
          <p:cNvPicPr>
            <a:picLocks noChangeAspect="1"/>
          </p:cNvPicPr>
          <p:nvPr/>
        </p:nvPicPr>
        <p:blipFill>
          <a:blip r:embed="rId1"/>
          <a:stretch>
            <a:fillRect/>
          </a:stretch>
        </p:blipFill>
        <p:spPr>
          <a:xfrm>
            <a:off x="571500" y="3634740"/>
            <a:ext cx="228600" cy="228600"/>
          </a:xfrm>
          <a:prstGeom prst="rect">
            <a:avLst/>
          </a:prstGeom>
        </p:spPr>
      </p:pic>
      <p:sp>
        <p:nvSpPr>
          <p:cNvPr id="11" name="Text 8">
            <a:hlinkClick r:id="rId2" tooltip=""/>
          </p:cNvPr>
          <p:cNvSpPr txBox="1"/>
          <p:nvPr/>
        </p:nvSpPr>
        <p:spPr>
          <a:xfrm>
            <a:off x="1051560" y="3547872"/>
            <a:ext cx="5486400" cy="384048"/>
          </a:xfrm>
          <a:prstGeom prst="rect">
            <a:avLst/>
          </a:prstGeom>
          <a:noFill/>
          <a:ln/>
        </p:spPr>
        <p:txBody>
          <a:bodyPr wrap="square" lIns="0" tIns="0" rIns="0" bIns="0" rtlCol="0" anchor="ctr"/>
          <a:lstStyle/>
          <a:p>
            <a:pPr indent="0" marL="0">
              <a:buNone/>
            </a:pPr>
            <a:r>
              <a:rPr lang="en-US" sz="15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github.com/MananGilhotra/air-quality-forecasting</a:t>
            </a:r>
            <a:endParaRPr lang="en-US" sz="1500" dirty="0"/>
          </a:p>
        </p:txBody>
      </p:sp>
      <p:sp>
        <p:nvSpPr>
          <p:cNvPr id="12" name="Text 9"/>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Thank you · Questions?</a:t>
            </a:r>
            <a:endParaRPr lang="en-US" sz="2400" dirty="0"/>
          </a:p>
        </p:txBody>
      </p:sp>
    </p:spTree>
  </p:cSld>
  <p:clrMapOvr>
    <a:masterClrMapping/>
  </p:clrMapOvr>
</p:sld>
</file>

<file path=ppt/theme/theme1.xml><?xml version="1.0" encoding="utf-8"?>
<a:theme xmlns:a="http://schemas.openxmlformats.org/drawingml/2006/main" name="Air Quality">
  <a:themeElements>
    <a:clrScheme name="Air Quality">
      <a:dk1>
        <a:srgbClr val="1F2933"/>
      </a:dk1>
      <a:lt1>
        <a:srgbClr val="FFFFFF"/>
      </a:lt1>
      <a:dk2>
        <a:srgbClr val="16384A"/>
      </a:dk2>
      <a:lt2>
        <a:srgbClr val="EEF3F5"/>
      </a:lt2>
      <a:accent1>
        <a:srgbClr val="E07A2F"/>
      </a:accent1>
      <a:accent2>
        <a:srgbClr val="3E7C8C"/>
      </a:accent2>
      <a:accent3>
        <a:srgbClr val="8A969E"/>
      </a:accent3>
      <a:accent4>
        <a:srgbClr val="C9D3D9"/>
      </a:accent4>
      <a:accent5>
        <a:srgbClr val="2E8B57"/>
      </a:accent5>
      <a:accent6>
        <a:srgbClr val="B23A48"/>
      </a:accent6>
      <a:hlink>
        <a:srgbClr val="3E7C8C"/>
      </a:hlink>
      <a:folHlink>
        <a:srgbClr val="6B4E9B"/>
      </a:folHlink>
    </a:clrScheme>
    <a:fontScheme name="Air Qual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Quality Forecasting via Gradient Boosting</dc:title>
  <dc:subject>PptxGenJS Presentation</dc:subject>
  <dc:creator>Project 19 team</dc:creator>
  <cp:lastModifiedBy>Project 19 team</cp:lastModifiedBy>
  <cp:revision>1</cp:revision>
  <dcterms:created xsi:type="dcterms:W3CDTF">2026-10-27T18:20:31Z</dcterms:created>
  <dcterms:modified xsi:type="dcterms:W3CDTF">2026-10-27T18:20:31Z</dcterms:modified>
</cp:coreProperties>
</file>